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C9C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Antonia Fuentes Ortiz</c:v>
                  </c:pt>
                  <c:pt idx="1">
                    <c:v>Luis Espinoza Muñoz</c:v>
                  </c:pt>
                  <c:pt idx="2">
                    <c:v>Paula Sepúlveda Navarro</c:v>
                  </c:pt>
                  <c:pt idx="3">
                    <c:v>Cristóbal González Salazar</c:v>
                  </c:pt>
                  <c:pt idx="4">
                    <c:v>Cristóbal Sepúlveda Navarro</c:v>
                  </c:pt>
                  <c:pt idx="5">
                    <c:v>Claudio Orellana Vergara</c:v>
                  </c:pt>
                  <c:pt idx="6">
                    <c:v>Valentina Saavedra Ortiz</c:v>
                  </c:pt>
                  <c:pt idx="7">
                    <c:v>Gonzalo Fuentes Medina</c:v>
                  </c:pt>
                  <c:pt idx="8">
                    <c:v>Claudio González Vergara</c:v>
                  </c:pt>
                  <c:pt idx="9">
                    <c:v>Rodrigo Pino Reyes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97.60402325581396</c:v>
                </c:pt>
                <c:pt idx="1">
                  <c:v>97.15714156928213</c:v>
                </c:pt>
                <c:pt idx="2">
                  <c:v>100.53983571428572</c:v>
                </c:pt>
                <c:pt idx="3">
                  <c:v>97.09090073529411</c:v>
                </c:pt>
                <c:pt idx="4">
                  <c:v>104.93164665127021</c:v>
                </c:pt>
                <c:pt idx="5">
                  <c:v>98.14341265822785</c:v>
                </c:pt>
                <c:pt idx="6">
                  <c:v>100.02775538694992</c:v>
                </c:pt>
                <c:pt idx="7">
                  <c:v>102.86850666233344</c:v>
                </c:pt>
                <c:pt idx="8">
                  <c:v>99.00848808290156</c:v>
                </c:pt>
                <c:pt idx="9">
                  <c:v>96.21818661971831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1529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Antonia Fuentes Ortiz</c:v>
                  </c:pt>
                  <c:pt idx="1">
                    <c:v>Luis Espinoza Muñoz</c:v>
                  </c:pt>
                  <c:pt idx="2">
                    <c:v>Paula Sepúlveda Navarro</c:v>
                  </c:pt>
                  <c:pt idx="3">
                    <c:v>Cristóbal González Salazar</c:v>
                  </c:pt>
                  <c:pt idx="4">
                    <c:v>Cristóbal Sepúlveda Navarro</c:v>
                  </c:pt>
                  <c:pt idx="5">
                    <c:v>Claudio Orellana Vergara</c:v>
                  </c:pt>
                  <c:pt idx="6">
                    <c:v>Valentina Saavedra Ortiz</c:v>
                  </c:pt>
                  <c:pt idx="7">
                    <c:v>Gonzalo Fuentes Medina</c:v>
                  </c:pt>
                  <c:pt idx="8">
                    <c:v>Claudio González Vergara</c:v>
                  </c:pt>
                  <c:pt idx="9">
                    <c:v>Rodrigo Pino Reyes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107.477625</c:v>
                </c:pt>
                <c:pt idx="1">
                  <c:v>104.66130049261085</c:v>
                </c:pt>
                <c:pt idx="2">
                  <c:v>100.24971428571428</c:v>
                </c:pt>
                <c:pt idx="3">
                  <c:v>100.18398909090908</c:v>
                </c:pt>
                <c:pt idx="4">
                  <c:v>99.8773839835729</c:v>
                </c:pt>
                <c:pt idx="5">
                  <c:v>99.78748747152619</c:v>
                </c:pt>
                <c:pt idx="6">
                  <c:v>99.4354347826087</c:v>
                </c:pt>
                <c:pt idx="7">
                  <c:v>97.87668524727577</c:v>
                </c:pt>
                <c:pt idx="8">
                  <c:v>94.94630725190841</c:v>
                </c:pt>
                <c:pt idx="9">
                  <c:v>94.93754237288135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865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85"/>
        </c:scaling>
        <c:delete val="0"/>
        <c:axPos val="b"/>
        <c:majorGridlines>
          <c:spPr>
            <a:ln w="6350" cap="flat">
              <a:solidFill>
                <a:srgbClr val="E6E9EF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5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50">
              <a:solidFill>
                <a:srgbClr val="15294A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C9CED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8657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Sur</c:v>
                  </c:pt>
                  <c:pt idx="1">
                    <c:v>Austral</c:v>
                  </c:pt>
                  <c:pt idx="2">
                    <c:v>Centro</c:v>
                  </c:pt>
                  <c:pt idx="3">
                    <c:v>Centro Sur</c:v>
                  </c:pt>
                  <c:pt idx="4">
                    <c:v>Norte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89.24949290060852</c:v>
                </c:pt>
                <c:pt idx="1">
                  <c:v>87.3015873015873</c:v>
                </c:pt>
                <c:pt idx="2">
                  <c:v>87.85923753665689</c:v>
                </c:pt>
                <c:pt idx="3">
                  <c:v>87.57612667478685</c:v>
                </c:pt>
                <c:pt idx="4">
                  <c:v>89.43298969072166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15294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8657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Sur</c:v>
                  </c:pt>
                  <c:pt idx="1">
                    <c:v>Austral</c:v>
                  </c:pt>
                  <c:pt idx="2">
                    <c:v>Centro</c:v>
                  </c:pt>
                  <c:pt idx="3">
                    <c:v>Centro Sur</c:v>
                  </c:pt>
                  <c:pt idx="4">
                    <c:v>Norte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83.66935483870968</c:v>
                </c:pt>
                <c:pt idx="1">
                  <c:v>85.36585365853658</c:v>
                </c:pt>
                <c:pt idx="2">
                  <c:v>87.47774480712167</c:v>
                </c:pt>
                <c:pt idx="3">
                  <c:v>88.08411214953271</c:v>
                </c:pt>
                <c:pt idx="4">
                  <c:v>89.48717948717949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00" u="none">
                  <a:solidFill>
                    <a:srgbClr val="58657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5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75"/>
        </c:scaling>
        <c:delete val="0"/>
        <c:axPos val="l"/>
        <c:majorGridlines>
          <c:spPr>
            <a:ln w="6350" cap="flat">
              <a:solidFill>
                <a:srgbClr val="E6E9EF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5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50">
              <a:solidFill>
                <a:srgbClr val="15294A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17536" y="195682"/>
            <a:ext cx="4274820" cy="6466637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pic>
        <p:nvPicPr>
          <p:cNvPr id="5" name="Image 0" descr="D:\GitHub\AnalisisDeDatos\scripts\presentaciones\logo_studios_cona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502920"/>
            <a:ext cx="2011680" cy="117827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9905" y="208483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DATOS · BUSINESS INTELLIGENCE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09905" y="237744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Metas, comisiones y ciclo de pedidos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609905" y="361188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de metas por ejecutivo, cálculo de comisiones por tramos y control del ciclo pedido–entrega–factura.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09905" y="5394960"/>
            <a:ext cx="20391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4497" y="551383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74497" y="5742432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 Foods S.A. (ficticia)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649017" y="5394960"/>
            <a:ext cx="20391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813609" y="551383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2813609" y="5742432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· Tableau · Excel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88129" y="5394960"/>
            <a:ext cx="20391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52721" y="551383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852721" y="5742432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 – 2024</a:t>
            </a:r>
            <a:endParaRPr lang="en-US" sz="1200" dirty="0"/>
          </a:p>
        </p:txBody>
      </p:sp>
      <p:pic>
        <p:nvPicPr>
          <p:cNvPr id="18" name="Image 1" descr="D:\GitHub\AnalisisDeDatos\docs\capturas\pbi_2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094554"/>
            <a:ext cx="3749040" cy="210857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955280" y="1094554"/>
            <a:ext cx="3749040" cy="210857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3D63"/>
            </a:solidFill>
            <a:prstDash val="solid"/>
          </a:ln>
        </p:spPr>
      </p:sp>
      <p:pic>
        <p:nvPicPr>
          <p:cNvPr id="20" name="Image 2" descr="D:\GitHub\AnalisisDeDatos\docs\capturas\tab_2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3816279"/>
            <a:ext cx="3566160" cy="196864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183880" y="3816279"/>
            <a:ext cx="3566160" cy="196864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3D6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MOTIVO DEL ANÁLISIS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MEDIR METAS Y PEDIDOS?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equipo comercial y la operación deben estar alineados con lo que se promete al cliente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3657295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5623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INCENTIVOS BIEN CALIBRADOS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92785" y="2103120"/>
            <a:ext cx="32915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comisiones son un costo relevante. Deben premiar el cumplimiento real y no solo meses aislados de alta venta.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267200" y="1691640"/>
            <a:ext cx="3657295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50080" y="185623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DESEMPEÑO INDIVIDUAL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450080" y="2103120"/>
            <a:ext cx="32915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Diez ejecutivos cubren cinco canales y cinco macrozonas. Hay que detectar a tiempo quién necesita apoyo.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924495" y="1691640"/>
            <a:ext cx="3657295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07375" y="185623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PROMESA DE ENTREGA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107375" y="2103120"/>
            <a:ext cx="32915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pedido que llega tarde o queda sin facturar afecta al cliente y a la caja de la empresa.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09905" y="4160520"/>
            <a:ext cx="10971886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049" y="4169664"/>
            <a:ext cx="201168" cy="1124712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39673" y="4343400"/>
            <a:ext cx="10331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CLAVE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039673" y="4562856"/>
            <a:ext cx="102860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¿Las metas son alcanzables y están bien pagadas, y cumplimos lo que prometemos al cliente en tiempo y facturación?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METAS Y PEDIDOS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QUÉ BUSCAMOS CONTROLAR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BAJO CONTROL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Metas, incentivos y servicio en una misma página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4708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Y VENTA REAL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92785" y="209397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mensual por ejecutivo vs venta no anulada.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del cumplimiento comercial.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67200" y="169164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50080" y="184708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LOGRO DE META %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450080" y="209397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 real / meta.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Mide el desempeño individual y del equipo.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924495" y="169164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07375" y="184708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COMISIÓN POR TRAMOS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107375" y="209397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bajo 80% de logro, hasta 4,5% sobre 110%.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del incentivo y su relación con el resultado.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310896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2785" y="326440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VARIACIÓN INTERANUAL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92785" y="351129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 del ejecutivo vs mismo período anterior.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Evolución del desempeño individual.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267200" y="310896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50080" y="326440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 PENDIENTES Y POR FACTURAR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450080" y="351129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 sin entregar y entregados sin factura.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de servicio y de caja.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924495" y="310896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07375" y="326440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ENTREGAS A TIEMPO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107375" y="351129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 entregados en o antes de la fecha comprometida.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de la promesa al cliente.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09905" y="4754880"/>
            <a:ext cx="1097188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9049" y="4764024"/>
            <a:ext cx="201168" cy="941832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39673" y="4937760"/>
            <a:ext cx="10331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QUE ENTREGA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039673" y="5157216"/>
            <a:ext cx="102860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a la jefatura comercial revisar cada mes quién cumple, cuánto se paga en comisiones y si la operación entrega a tiempo.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METAS Y PEDIDOS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EL DASHBOARD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EN POWER BI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«Metas y Pedidos» del informe</a:t>
            </a:r>
            <a:endParaRPr lang="en-US" sz="1350" dirty="0"/>
          </a:p>
        </p:txBody>
      </p:sp>
      <p:pic>
        <p:nvPicPr>
          <p:cNvPr id="7" name="Image 0" descr="D:\GitHub\AnalisisDeDatos\docs\capturas\pbi_2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4565" y="1645920"/>
            <a:ext cx="7722565" cy="434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34565" y="1645920"/>
            <a:ext cx="7722565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FE3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9905" y="605332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 vs meta por ejecutivo · cumplimiento mensual 2023 vs 2024 · detalle con tramo y comisión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METAS Y PEDIDOS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EL DASHBOARD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DASHBOARD EN TABLEAU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mismos indicadores, gráficos, tablas y filtros, construidos en Tableau</a:t>
            </a:r>
            <a:endParaRPr lang="en-US" sz="1350" dirty="0"/>
          </a:p>
        </p:txBody>
      </p:sp>
      <p:pic>
        <p:nvPicPr>
          <p:cNvPr id="7" name="Image 0" descr="D:\GitHub\AnalisisDeDatos\docs\capturas\tab_2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1851" y="1645920"/>
            <a:ext cx="7867993" cy="434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61851" y="1645920"/>
            <a:ext cx="7867993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FE3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9905" y="605332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Réplica 1:1 de la página de Power BI · filtros con parámetros · campos calculados · doble eje · nombres y valores de medidas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METAS Y PEDIDOS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RESULTADOS 2023 VS 2024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MÁS EXIGENTES, LOGRO BAJO 100%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del equipo comercial entre ambos años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2742971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56232"/>
            <a:ext cx="23772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LOGRO DE META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92785" y="2121408"/>
            <a:ext cx="23772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99,5%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792785" y="2907792"/>
            <a:ext cx="23772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 ·  2023: 100,5%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92785" y="3246120"/>
            <a:ext cx="23772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-1,0 pp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52876" y="1691640"/>
            <a:ext cx="2742971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35756" y="1856232"/>
            <a:ext cx="23772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COMISIONES PAGADAS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535756" y="2121408"/>
            <a:ext cx="23772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$52,1 M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3535756" y="2907792"/>
            <a:ext cx="23772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 ·  2023: $45,6 M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535756" y="3246120"/>
            <a:ext cx="23772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+14,2%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95848" y="1691640"/>
            <a:ext cx="2742971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78728" y="1856232"/>
            <a:ext cx="23772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MESES CON META CUMPLIDA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278728" y="2121408"/>
            <a:ext cx="23772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6278728" y="2907792"/>
            <a:ext cx="23772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 ·  2023: 53%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278728" y="3246120"/>
            <a:ext cx="23772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-0,8 pp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838819" y="1691640"/>
            <a:ext cx="2742971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21699" y="1856232"/>
            <a:ext cx="23772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ENTREGAS A TIEMPO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021699" y="2121408"/>
            <a:ext cx="23772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87,6%</a:t>
            </a:r>
            <a:endParaRPr lang="en-US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9021699" y="2907792"/>
            <a:ext cx="23772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 ·  2023: 88,4%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021699" y="3246120"/>
            <a:ext cx="23772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-0,7 pp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09905" y="4343400"/>
            <a:ext cx="10971886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9049" y="4352544"/>
            <a:ext cx="201168" cy="1170432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39673" y="4526280"/>
            <a:ext cx="10331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1039673" y="4745736"/>
            <a:ext cx="102860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meta 2024 subió +14,7%, más que la venta real (+13,6%), por lo que el logro del equipo cayó bajo 100%. Aun así, las comisiones crecieron +14,2%: se pagan por mes y premian picos de venta aunque el año no se cumpla.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METAS Y PEDIDOS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DESEMPEÑO INDIVIDUAL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EJECUTIVOS MEJORAN, CINCO RETROCEDEN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Logro de meta anual por ejecutivo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69037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56232"/>
            <a:ext cx="653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LOGRO DE META POR EJECUTIVO (%)</a:t>
            </a:r>
            <a:endParaRPr lang="en-US" sz="9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01345" y="2103120"/>
          <a:ext cx="67208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742225" y="169164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25105" y="185623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MEJORAS DESTACADAS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925105" y="210312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Antonia Fuentes Ortiz (98% → 107%) y Luis Espinoza Muñoz (97% → 105%).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42225" y="320040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25105" y="336499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BAJO 95% EN 2024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7925105" y="361188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Claudio González Vergara y Rodrigo Pino Reyes quedaron cerca de 95%, en el límite del tramo de comisión.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42225" y="470916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25105" y="487375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POR EJECUTIVO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925105" y="512064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diferencias entre ejecutivos sugieren metas poco ajustadas a cada canal y zona.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METAS Y PEDIDOS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SERVICIO AL CLIENTE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ZONA SUR PIERDE PUNTUALIDAD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Porcentaje de pedidos entregados a tiempo por macrozona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69037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56232"/>
            <a:ext cx="653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ENTREGAS A TIEMPO POR MACROZONA (%)</a:t>
            </a:r>
            <a:endParaRPr lang="en-US" sz="9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01345" y="2103120"/>
          <a:ext cx="67208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742225" y="169164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25105" y="185623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SUR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925105" y="210312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Cae de 89,2% a 83,7%: el mayor retroceso, justo en la zona que más crece en ventas.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42225" y="320040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25105" y="336499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ZONAS LEJANAS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7925105" y="361188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y Austral tienen plazos de despacho más largos desde Concepción y menos margen para imprevistos.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42225" y="470916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25105" y="487375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 ABIERTOS AL CIERRE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925105" y="512064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pedidos pendientes de entrega y $14,9 M entregados sin facturar al 31-12-2024.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METAS Y PEDIDOS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HALLAZGOS CLAVE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DICEN LOS DATOS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hallazgos sobre incentivos y servicio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5485943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1073" y="1874520"/>
            <a:ext cx="51201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COMISIONES SIN CUMPLIMIENTO ANUAL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11073" y="2103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+14,2%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850185" y="2121408"/>
            <a:ext cx="3017063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comisiones suben aunque el logro anual baja a 99,5%. El esquema mensual paga picos de venta que después no se sostienen.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95848" y="1691640"/>
            <a:ext cx="5485943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97016" y="1874520"/>
            <a:ext cx="51201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POR SOBRE EL MERCADO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297016" y="2103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+14,7%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336128" y="2121408"/>
            <a:ext cx="3017063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meta creció más que la venta real. Metas inalcanzables desmotivan; metas fáciles encarecen las comisiones.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9905" y="3840480"/>
            <a:ext cx="5485943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1073" y="4023360"/>
            <a:ext cx="51201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PUNTUALIDAD EN DESCENSO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11073" y="42519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-0,7 pp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850185" y="4270248"/>
            <a:ext cx="3017063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entrega a tiempo baja en el total y cae más de 5 puntos en la zona Sur.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95848" y="3840480"/>
            <a:ext cx="5485943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97016" y="4023360"/>
            <a:ext cx="51201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FACTURACIÓN PENDIENTE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297016" y="42519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$14,9 M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8336128" y="4270248"/>
            <a:ext cx="3017063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pedidos entregados sin facturar al cierre del año: dinero que se demora en entrar a caja.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METAS Y PEDIDOS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MEDIDAS A TOMAR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MEDIDAS RECOMENDADAS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al modelo de incentivos y al ciclo de pedidos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5485943" cy="384048"/>
          </a:xfrm>
          <a:prstGeom prst="rect">
            <a:avLst/>
          </a:prstGeom>
          <a:solidFill>
            <a:srgbClr val="F7EFD8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691640"/>
            <a:ext cx="51201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 INMEDIATA · 0 A 3 MESES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9905" y="2075688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2785" y="22128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41425" y="2194560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Facturar lo entregado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Emitir las facturas pendientes y fijar una regla de facturación en 24 horas desde la entrega.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9905" y="3200400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2785" y="3337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41425" y="3319272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Apoyo a ejecutivos bajo 95%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acompañamiento en terreno y revisión de cartera para los ejecutivos con menor logro.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9905" y="4325112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2785" y="4462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41425" y="4443984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logística de la zona Sur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Analizar rutas y plazos de despacho a Puerto Montt, Osorno y Valdivia.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95848" y="1691640"/>
            <a:ext cx="5485943" cy="384048"/>
          </a:xfrm>
          <a:prstGeom prst="rect">
            <a:avLst/>
          </a:prstGeom>
          <a:solidFill>
            <a:srgbClr val="F7EFD8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78728" y="1691640"/>
            <a:ext cx="51201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PLANIFICAR · 3 A 12 MESES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95848" y="2075688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78728" y="22128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827368" y="2194560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Comisión con componente trimestral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Pagar una parte mensual y otra por cumplimiento trimestral, para premiar la constancia.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95848" y="3200400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78728" y="3337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827368" y="3319272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estacionales por canal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metas con la estacionalidad histórica y el potencial de cada canal y zona.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95848" y="4325112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78728" y="4462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827368" y="4443984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Compromiso de entrega por zona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Fijar plazos diferenciados por macrozona y medir entregas a tiempo con meta de 92%.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METAS Y PEDIDOS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y metas 2025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3258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propuestas para el próximo período</a:t>
            </a:r>
            <a:endParaRPr lang="en-US" sz="1350" dirty="0"/>
          </a:p>
        </p:txBody>
      </p:sp>
      <p:pic>
        <p:nvPicPr>
          <p:cNvPr id="7" name="Image 0" descr="D:\GitHub\AnalisisDeDatos\scripts\presentaciones\logo_studios_cona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8750" y="411480"/>
            <a:ext cx="1463040" cy="85692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9905" y="178308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2785" y="194767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LOGRO DE META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92785" y="219456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sobre 100% con metas estacionales realistas.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67200" y="178308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50080" y="194767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COMISIONES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450080" y="219456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crezcan al mismo ritmo que la venta, no más rápido.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924495" y="178308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107375" y="194767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ENTREGAS A TIEMPO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107375" y="219456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Llevar el indicador de 87,6% a 92%.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9905" y="310896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92785" y="327355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SUR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792785" y="352044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Recuperar el 89% de puntualidad de 2023.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267200" y="310896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450080" y="327355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FACTURACIÓN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450080" y="352044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pedidos entregados con más de 48 horas sin factura.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924495" y="310896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07375" y="327355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SEGUIMIENTO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8107375" y="352044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mensual por ejecutivo con la jefatura comercial.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09905" y="4617720"/>
            <a:ext cx="804580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9049" y="4626864"/>
            <a:ext cx="201168" cy="1399032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39673" y="4800600"/>
            <a:ext cx="7405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1039673" y="5020056"/>
            <a:ext cx="73600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equipo vende más, pero el sistema de metas y comisiones no está alineado con el resultado anual, y la puntualidad empieza a resentirse en las zonas que más crecen.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838590" y="461772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021470" y="47823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PREPARADO POR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9021470" y="5029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del Río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Ingeniero en Informática · BI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SpA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studiosconari@gmail.com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METAS Y PEDIDOS</a:t>
            </a:r>
            <a:endParaRPr lang="en-US" sz="800" dirty="0"/>
          </a:p>
        </p:txBody>
      </p:sp>
      <p:sp>
        <p:nvSpPr>
          <p:cNvPr id="37" name="Text 33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Studios Conari SpA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Metas, comisiones y ciclo de pedidos</dc:title>
  <dc:subject>PptxGenJS Presentation</dc:subject>
  <dc:creator>Kevin del Río · Studios Conari SpA</dc:creator>
  <cp:lastModifiedBy>Kevin del Río · Studios Conari SpA</cp:lastModifiedBy>
  <cp:revision>1</cp:revision>
  <dcterms:created xsi:type="dcterms:W3CDTF">2026-09-25T23:24:05Z</dcterms:created>
  <dcterms:modified xsi:type="dcterms:W3CDTF">2026-09-25T23:24:05Z</dcterms:modified>
</cp:coreProperties>
</file>