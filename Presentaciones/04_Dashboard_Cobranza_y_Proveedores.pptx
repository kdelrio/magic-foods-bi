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 día</c:v>
                  </c:pt>
                  <c:pt idx="1">
                    <c:v>1-30 días</c:v>
                  </c:pt>
                  <c:pt idx="2">
                    <c:v>31-60 días</c:v>
                  </c:pt>
                  <c:pt idx="3">
                    <c:v>61-90 días</c:v>
                  </c:pt>
                  <c:pt idx="4">
                    <c:v>Más de 90 días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296.533356</c:v>
                </c:pt>
                <c:pt idx="1">
                  <c:v>105.408221</c:v>
                </c:pt>
                <c:pt idx="2">
                  <c:v>10.399931</c:v>
                </c:pt>
                <c:pt idx="3">
                  <c:v>6.032233</c:v>
                </c:pt>
                <c:pt idx="4">
                  <c:v>73.776466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 total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Centro</c:v>
                  </c:pt>
                  <c:pt idx="2">
                    <c:v>Centro Sur</c:v>
                  </c:pt>
                  <c:pt idx="3">
                    <c:v>Sur</c:v>
                  </c:pt>
                  <c:pt idx="4">
                    <c:v>Austral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200.505819</c:v>
                </c:pt>
                <c:pt idx="1">
                  <c:v>114.502828</c:v>
                </c:pt>
                <c:pt idx="2">
                  <c:v>96.336921</c:v>
                </c:pt>
                <c:pt idx="3">
                  <c:v>61.672075</c:v>
                </c:pt>
                <c:pt idx="4">
                  <c:v>19.132564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Saldo vencido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Centro</c:v>
                  </c:pt>
                  <c:pt idx="2">
                    <c:v>Centro Sur</c:v>
                  </c:pt>
                  <c:pt idx="3">
                    <c:v>Sur</c:v>
                  </c:pt>
                  <c:pt idx="4">
                    <c:v>Austral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109.783185</c:v>
                </c:pt>
                <c:pt idx="1">
                  <c:v>28.109655</c:v>
                </c:pt>
                <c:pt idx="2">
                  <c:v>28.440708</c:v>
                </c:pt>
                <c:pt idx="3">
                  <c:v>21.058238</c:v>
                </c:pt>
                <c:pt idx="4">
                  <c:v>8.225065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por cobrar y por pagar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Antigüedad de saldos, cobranza por zona y cliente, y comportamiento de pago a proveedores.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4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102636"/>
            <a:ext cx="3749040" cy="209240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102636"/>
            <a:ext cx="3749040" cy="209240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4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ANALIZAR COBRANZA Y PAGOS?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capital de trabajo decide si la utilidad se convierte en caja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QUE NO SE COBRA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factura impaga es venta sin caja. Mientras más envejece, más difícil es cobrarla y mayor el riesgo de pérdida.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POR CLIENTE Y ZONA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clientes en todo Chile, hay que saber dónde se concentra la deuda vencida para enfocar la gestión.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CON PROVEEDORES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tarde daña la relación y el abastecimiento; pagar demasiado pronto presiona la caja.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nos debe, desde cuándo y dónde; y cómo estamos pagando a quienes nos abastecen?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de clientes y compromisos con proveedores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COBRAR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emitidas y no pagadas a la fecha de corte.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Dinero comprometido en clientes.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VENCIDO Y ANTIGÜEDAD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por tramos: al día, 1–30, 31–60, 61–90, +90 días.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incobrabilidad.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EN GESTIÓN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Impagas con más de 30 días de mora.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trabajo de cobranza.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SALDOS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cliente según su ubicación.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enfocar las visitas de cobranza.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PAGO A PROVEEDORES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entre recepción de la factura y el pago.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con los proveedores.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DE COMPRAS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de cada proveedor en el total.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y riesgo de abastecimiento.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 finanzas priorizar la cobranza por antigüedad, cliente y zona, y controlar la puntualidad de pago a proveedores.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«Cobranza y Proveedores» del informe</a:t>
            </a:r>
            <a:endParaRPr lang="en-US" sz="1350" dirty="0"/>
          </a:p>
        </p:txBody>
      </p:sp>
      <p:pic>
        <p:nvPicPr>
          <p:cNvPr id="7" name="Image 0" descr="D:\GitHub\AnalisisDeDatos\docs\capturas\pbi_4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738" y="1645920"/>
            <a:ext cx="7782218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04738" y="1645920"/>
            <a:ext cx="7782218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Antigüedad de saldos · mapa de saldos por cliente en todo Chile · días de pago a proveedores · concentración de compras · clientes con mayor saldo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4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CON ALTA PROPORCIÓN VENCIDA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Saldos al 31-12-2024 y comportamiento de pago 2023 vs 2024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COBRAR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$492,2 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saldo al cierre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$195,6 M vencido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DE MÁS DE 90 DÍAS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$73,8 M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riesgo de incobrabilidad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 del saldo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 PROMEDIO DE CLIENTES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 días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18,3 días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-3,1%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PAGO A PROVEEDORES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48,2 días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57,0 días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-15,5% · mora 15,2 → 7,6 días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40% del saldo por cobrar está vencido y 163 facturas están en gestión de cobranza. Los clientes siguen pagando con unos 18 días de atraso promedio y solo 9% de las facturas se paga en plazo. Con proveedores ocurre lo contrario: la mora se redujo a la mitad.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ANTIGÜEDAD DE SALDOS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DEUDA ANTIGUA PESA DEMASIADO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cobrar por tramo de antigüedad al 31-12-2024 (M$)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TRAMO DE ANTIGÜEDAD (M$)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90 DÍAS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$73,8 M con más de 90 días de mora: deuda que debería provisionarse como posible incobrable.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1–30 DÍAS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$105,4 M recién vencidos: es donde la cobranza temprana tiene mayor efecto.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5 clientes con mayor saldo concentran 46% de la deuda; el mayor es «Supermercado Bío Market» con $87,6 M.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DÓNDE ESTÁ LA DEUDA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NORTE CONCENTRA LA DEUDA VENCIDA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total y vencido por macrozona al 31-12-2024 (M$)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MACROZONA (M$)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MACROZONA NORTE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$109,8 M vencidos: 55% de su saldo. Es la zona prioritaria de cobranza.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DEL PAÍS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Centro, Centro Sur y Sur mantienen alrededor de un cuarto de su saldo vencido.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días de pago bajan de 57 a 48, y 3 insumos dependen de un proveedor único (pan, etiquetas y cajas).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para finanzas y abastecimiento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EN PLAZO CASI INEXISTENTE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facturas se paga dentro del plazo. Los clientes usan a Magic Foods como fuente de financiamiento.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INCOBRABILIDAD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$73,8 M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más de 90 días. Sin una provisión, el resultado del año está sobreestimado.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RELACIÓN CON PROVEEDORES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 días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mora promedio a proveedores (antes 15,2). Pagar a tiempo mejora el abastecimiento, pero hay que equilibrarlo con la caja.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 PROVEEDORES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compras se concentra en 3 proveedores, y 3 insumos no tienen proveedor alternativo.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mejor y comprar con menor riesgo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cobranza en la zona Norte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y acuerdos de pago con los clientes de Antofagasta, Iquique y La Serena.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personalizada del top 5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con los 5 clientes de mayor saldo para calendarizar pagos.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Provisionar la deuda de más de 90 días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el riesgo en el resultado y enviar los casos a cobranza prejudicial.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crédito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crédito por cliente y bloqueo de despachos con facturas de más de 60 días.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 por pronto pago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 de 1% a 2% por pago dentro del plazo, para mejorar el flujo.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proveedor para insumos críticos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Homologar proveedores alternativos de pan, etiquetas y cajas de despacho.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VENCIDO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de 40% a menos de 25% del saldo por cobrar.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90 DÍAS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a la mitad la deuda de más de 90 días.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EN PLAZO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al menos 30% de las facturas se pague dentro del plazo.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NORTE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su deuda vencida en 50%.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la mora bajo 10 días con pagos programados.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ABASTECIMIENTO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insumos críticos con proveedor único.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cumple mejor con sus proveedores que sus clientes con ella. Equilibrar ese ciclo, cobrando a tiempo, es la palanca más rápida para recuperar la caja.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COBRANZA Y PROVEEDORES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Cuentas por cobrar y por pagar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