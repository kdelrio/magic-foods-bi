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bruto</c:v>
                </c:pt>
              </c:strCache>
            </c:strRef>
          </c:tx>
          <c:spPr>
            <a:solidFill>
              <a:srgbClr val="9E741C"/>
            </a:solidFill>
            <a:ln w="25400" cap="flat">
              <a:solidFill>
                <a:srgbClr val="9E74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E741C"/>
              </a:solidFill>
              <a:ln w="9525" cap="flat">
                <a:solidFill>
                  <a:srgbClr val="9E74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2023-01</c:v>
                  </c:pt>
                  <c:pt idx="1">
                    <c:v>2023-02</c:v>
                  </c:pt>
                  <c:pt idx="2">
                    <c:v>2023-03</c:v>
                  </c:pt>
                  <c:pt idx="3">
                    <c:v>2023-04</c:v>
                  </c:pt>
                  <c:pt idx="4">
                    <c:v>2023-05</c:v>
                  </c:pt>
                  <c:pt idx="5">
                    <c:v>2023-06</c:v>
                  </c:pt>
                  <c:pt idx="6">
                    <c:v>2023-07</c:v>
                  </c:pt>
                  <c:pt idx="7">
                    <c:v>2023-08</c:v>
                  </c:pt>
                  <c:pt idx="8">
                    <c:v>2023-09</c:v>
                  </c:pt>
                  <c:pt idx="9">
                    <c:v>2023-10</c:v>
                  </c:pt>
                  <c:pt idx="10">
                    <c:v>2023-11</c:v>
                  </c:pt>
                  <c:pt idx="11">
                    <c:v>2023-12</c:v>
                  </c:pt>
                  <c:pt idx="12">
                    <c:v>2024-01</c:v>
                  </c:pt>
                  <c:pt idx="13">
                    <c:v>2024-02</c:v>
                  </c:pt>
                  <c:pt idx="14">
                    <c:v>2024-03</c:v>
                  </c:pt>
                  <c:pt idx="15">
                    <c:v>2024-04</c:v>
                  </c:pt>
                  <c:pt idx="16">
                    <c:v>2024-05</c:v>
                  </c:pt>
                  <c:pt idx="17">
                    <c:v>2024-06</c:v>
                  </c:pt>
                  <c:pt idx="18">
                    <c:v>2024-07</c:v>
                  </c:pt>
                  <c:pt idx="19">
                    <c:v>2024-08</c:v>
                  </c:pt>
                  <c:pt idx="20">
                    <c:v>2024-09</c:v>
                  </c:pt>
                  <c:pt idx="21">
                    <c:v>2024-10</c:v>
                  </c:pt>
                  <c:pt idx="22">
                    <c:v>2024-11</c:v>
                  </c:pt>
                  <c:pt idx="23">
                    <c:v>2024-12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27.061410182601563</c:v>
                </c:pt>
                <c:pt idx="1">
                  <c:v>27.32804809761655</c:v>
                </c:pt>
                <c:pt idx="2">
                  <c:v>28.55549898568603</c:v>
                </c:pt>
                <c:pt idx="3">
                  <c:v>27.680220962244594</c:v>
                </c:pt>
                <c:pt idx="4">
                  <c:v>27.656994074056673</c:v>
                </c:pt>
                <c:pt idx="5">
                  <c:v>27.428962431878062</c:v>
                </c:pt>
                <c:pt idx="6">
                  <c:v>28.31960818942291</c:v>
                </c:pt>
                <c:pt idx="7">
                  <c:v>27.52056898088761</c:v>
                </c:pt>
                <c:pt idx="8">
                  <c:v>26.717195817776755</c:v>
                </c:pt>
                <c:pt idx="9">
                  <c:v>27.551803041013944</c:v>
                </c:pt>
                <c:pt idx="10">
                  <c:v>26.870190797231658</c:v>
                </c:pt>
                <c:pt idx="11">
                  <c:v>27.486367053353717</c:v>
                </c:pt>
                <c:pt idx="12">
                  <c:v>24.65474480506189</c:v>
                </c:pt>
                <c:pt idx="13">
                  <c:v>24.441139593183284</c:v>
                </c:pt>
                <c:pt idx="14">
                  <c:v>28.05339274421263</c:v>
                </c:pt>
                <c:pt idx="15">
                  <c:v>27.10712773483892</c:v>
                </c:pt>
                <c:pt idx="16">
                  <c:v>28.82280314550389</c:v>
                </c:pt>
                <c:pt idx="17">
                  <c:v>27.680443636774676</c:v>
                </c:pt>
                <c:pt idx="18">
                  <c:v>27.403558634729237</c:v>
                </c:pt>
                <c:pt idx="19">
                  <c:v>28.22966806523406</c:v>
                </c:pt>
                <c:pt idx="20">
                  <c:v>27.43345375881082</c:v>
                </c:pt>
                <c:pt idx="21">
                  <c:v>27.813289615714844</c:v>
                </c:pt>
                <c:pt idx="22">
                  <c:v>28.032911311183927</c:v>
                </c:pt>
                <c:pt idx="23">
                  <c:v>27.691932977323276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EBITDA</c:v>
                </c:pt>
              </c:strCache>
            </c:strRef>
          </c:tx>
          <c:spPr>
            <a:solidFill>
              <a:srgbClr val="15294A"/>
            </a:solidFill>
            <a:ln w="25400" cap="flat">
              <a:solidFill>
                <a:srgbClr val="1529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5294A"/>
              </a:solidFill>
              <a:ln w="9525" cap="flat">
                <a:solidFill>
                  <a:srgbClr val="1529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2023-01</c:v>
                  </c:pt>
                  <c:pt idx="1">
                    <c:v>2023-02</c:v>
                  </c:pt>
                  <c:pt idx="2">
                    <c:v>2023-03</c:v>
                  </c:pt>
                  <c:pt idx="3">
                    <c:v>2023-04</c:v>
                  </c:pt>
                  <c:pt idx="4">
                    <c:v>2023-05</c:v>
                  </c:pt>
                  <c:pt idx="5">
                    <c:v>2023-06</c:v>
                  </c:pt>
                  <c:pt idx="6">
                    <c:v>2023-07</c:v>
                  </c:pt>
                  <c:pt idx="7">
                    <c:v>2023-08</c:v>
                  </c:pt>
                  <c:pt idx="8">
                    <c:v>2023-09</c:v>
                  </c:pt>
                  <c:pt idx="9">
                    <c:v>2023-10</c:v>
                  </c:pt>
                  <c:pt idx="10">
                    <c:v>2023-11</c:v>
                  </c:pt>
                  <c:pt idx="11">
                    <c:v>2023-12</c:v>
                  </c:pt>
                  <c:pt idx="12">
                    <c:v>2024-01</c:v>
                  </c:pt>
                  <c:pt idx="13">
                    <c:v>2024-02</c:v>
                  </c:pt>
                  <c:pt idx="14">
                    <c:v>2024-03</c:v>
                  </c:pt>
                  <c:pt idx="15">
                    <c:v>2024-04</c:v>
                  </c:pt>
                  <c:pt idx="16">
                    <c:v>2024-05</c:v>
                  </c:pt>
                  <c:pt idx="17">
                    <c:v>2024-06</c:v>
                  </c:pt>
                  <c:pt idx="18">
                    <c:v>2024-07</c:v>
                  </c:pt>
                  <c:pt idx="19">
                    <c:v>2024-08</c:v>
                  </c:pt>
                  <c:pt idx="20">
                    <c:v>2024-09</c:v>
                  </c:pt>
                  <c:pt idx="21">
                    <c:v>2024-10</c:v>
                  </c:pt>
                  <c:pt idx="22">
                    <c:v>2024-11</c:v>
                  </c:pt>
                  <c:pt idx="23">
                    <c:v>2024-12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11.34383799995421</c:v>
                </c:pt>
                <c:pt idx="1">
                  <c:v>9.606580507635563</c:v>
                </c:pt>
                <c:pt idx="2">
                  <c:v>11.33814846957295</c:v>
                </c:pt>
                <c:pt idx="3">
                  <c:v>9.737335214783728</c:v>
                </c:pt>
                <c:pt idx="4">
                  <c:v>11.4701497257095</c:v>
                </c:pt>
                <c:pt idx="5">
                  <c:v>7.44066870211571</c:v>
                </c:pt>
                <c:pt idx="6">
                  <c:v>10.591511695016747</c:v>
                </c:pt>
                <c:pt idx="7">
                  <c:v>8.319770435049715</c:v>
                </c:pt>
                <c:pt idx="8">
                  <c:v>6.284174823446207</c:v>
                </c:pt>
                <c:pt idx="9">
                  <c:v>9.932831637159909</c:v>
                </c:pt>
                <c:pt idx="10">
                  <c:v>9.73446615101409</c:v>
                </c:pt>
                <c:pt idx="11">
                  <c:v>10.397547494729185</c:v>
                </c:pt>
                <c:pt idx="12">
                  <c:v>9.280285585176443</c:v>
                </c:pt>
                <c:pt idx="13">
                  <c:v>8.551020942299514</c:v>
                </c:pt>
                <c:pt idx="14">
                  <c:v>10.452061338251484</c:v>
                </c:pt>
                <c:pt idx="15">
                  <c:v>11.813067314565279</c:v>
                </c:pt>
                <c:pt idx="16">
                  <c:v>11.576066431009735</c:v>
                </c:pt>
                <c:pt idx="17">
                  <c:v>9.377825507360132</c:v>
                </c:pt>
                <c:pt idx="18">
                  <c:v>11.494234470540313</c:v>
                </c:pt>
                <c:pt idx="19">
                  <c:v>12.43980450094134</c:v>
                </c:pt>
                <c:pt idx="20">
                  <c:v>10.768246966475854</c:v>
                </c:pt>
                <c:pt idx="21">
                  <c:v>10.27466958203</c:v>
                </c:pt>
                <c:pt idx="22">
                  <c:v>11.839636892052207</c:v>
                </c:pt>
                <c:pt idx="23">
                  <c:v>10.479039433175332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Margen neto</c:v>
                </c:pt>
              </c:strCache>
            </c:strRef>
          </c:tx>
          <c:spPr>
            <a:solidFill>
              <a:srgbClr val="58657A"/>
            </a:solidFill>
            <a:ln w="25400" cap="flat">
              <a:solidFill>
                <a:srgbClr val="5865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8657A"/>
              </a:solidFill>
              <a:ln w="9525" cap="flat">
                <a:solidFill>
                  <a:srgbClr val="5865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2023-01</c:v>
                  </c:pt>
                  <c:pt idx="1">
                    <c:v>2023-02</c:v>
                  </c:pt>
                  <c:pt idx="2">
                    <c:v>2023-03</c:v>
                  </c:pt>
                  <c:pt idx="3">
                    <c:v>2023-04</c:v>
                  </c:pt>
                  <c:pt idx="4">
                    <c:v>2023-05</c:v>
                  </c:pt>
                  <c:pt idx="5">
                    <c:v>2023-06</c:v>
                  </c:pt>
                  <c:pt idx="6">
                    <c:v>2023-07</c:v>
                  </c:pt>
                  <c:pt idx="7">
                    <c:v>2023-08</c:v>
                  </c:pt>
                  <c:pt idx="8">
                    <c:v>2023-09</c:v>
                  </c:pt>
                  <c:pt idx="9">
                    <c:v>2023-10</c:v>
                  </c:pt>
                  <c:pt idx="10">
                    <c:v>2023-11</c:v>
                  </c:pt>
                  <c:pt idx="11">
                    <c:v>2023-12</c:v>
                  </c:pt>
                  <c:pt idx="12">
                    <c:v>2024-01</c:v>
                  </c:pt>
                  <c:pt idx="13">
                    <c:v>2024-02</c:v>
                  </c:pt>
                  <c:pt idx="14">
                    <c:v>2024-03</c:v>
                  </c:pt>
                  <c:pt idx="15">
                    <c:v>2024-04</c:v>
                  </c:pt>
                  <c:pt idx="16">
                    <c:v>2024-05</c:v>
                  </c:pt>
                  <c:pt idx="17">
                    <c:v>2024-06</c:v>
                  </c:pt>
                  <c:pt idx="18">
                    <c:v>2024-07</c:v>
                  </c:pt>
                  <c:pt idx="19">
                    <c:v>2024-08</c:v>
                  </c:pt>
                  <c:pt idx="20">
                    <c:v>2024-09</c:v>
                  </c:pt>
                  <c:pt idx="21">
                    <c:v>2024-10</c:v>
                  </c:pt>
                  <c:pt idx="22">
                    <c:v>2024-11</c:v>
                  </c:pt>
                  <c:pt idx="23">
                    <c:v>2024-12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4.887009664185334</c:v>
                </c:pt>
                <c:pt idx="1">
                  <c:v>3.0728557847893225</c:v>
                </c:pt>
                <c:pt idx="2">
                  <c:v>4.568848839077109</c:v>
                </c:pt>
                <c:pt idx="3">
                  <c:v>3.080347448434657</c:v>
                </c:pt>
                <c:pt idx="4">
                  <c:v>4.855982894808096</c:v>
                </c:pt>
                <c:pt idx="5">
                  <c:v>1.0356799697312293</c:v>
                </c:pt>
                <c:pt idx="6">
                  <c:v>3.850583433870907</c:v>
                </c:pt>
                <c:pt idx="7">
                  <c:v>1.8859624721069235</c:v>
                </c:pt>
                <c:pt idx="8">
                  <c:v>0.14654687864422372</c:v>
                </c:pt>
                <c:pt idx="9">
                  <c:v>3.5683767370244155</c:v>
                </c:pt>
                <c:pt idx="10">
                  <c:v>3.4322601365265326</c:v>
                </c:pt>
                <c:pt idx="11">
                  <c:v>4.026579776316398</c:v>
                </c:pt>
                <c:pt idx="12">
                  <c:v>3.6834982882478418</c:v>
                </c:pt>
                <c:pt idx="13">
                  <c:v>2.98436925778586</c:v>
                </c:pt>
                <c:pt idx="14">
                  <c:v>3.9403852700160336</c:v>
                </c:pt>
                <c:pt idx="15">
                  <c:v>5.57088205225681</c:v>
                </c:pt>
                <c:pt idx="16">
                  <c:v>4.994909084312047</c:v>
                </c:pt>
                <c:pt idx="17">
                  <c:v>3.0852576674453767</c:v>
                </c:pt>
                <c:pt idx="18">
                  <c:v>5.245953897111829</c:v>
                </c:pt>
                <c:pt idx="19">
                  <c:v>4.9511622199505325</c:v>
                </c:pt>
                <c:pt idx="20">
                  <c:v>3.6040679892799576</c:v>
                </c:pt>
                <c:pt idx="21">
                  <c:v>2.990801139552479</c:v>
                </c:pt>
                <c:pt idx="22">
                  <c:v>4.667090913934989</c:v>
                </c:pt>
                <c:pt idx="23">
                  <c:v>3.3507454029441295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75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9C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Flujo operativo</c:v>
                  </c:pt>
                  <c:pt idx="1">
                    <c:v>Inversión (capex)</c:v>
                  </c:pt>
                  <c:pt idx="2">
                    <c:v>Flujo libre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16.464821</c:v>
                </c:pt>
                <c:pt idx="1">
                  <c:v>-71.007098</c:v>
                </c:pt>
                <c:pt idx="2">
                  <c:v>-54.542277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52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Flujo operativo</c:v>
                  </c:pt>
                  <c:pt idx="1">
                    <c:v>Inversión (capex)</c:v>
                  </c:pt>
                  <c:pt idx="2">
                    <c:v>Flujo libre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32.726647</c:v>
                </c:pt>
                <c:pt idx="1">
                  <c:v>-222.965591</c:v>
                </c:pt>
                <c:pt idx="2">
                  <c:v>-190.238944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865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17536" y="195682"/>
            <a:ext cx="4274820" cy="6466637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pic>
        <p:nvPicPr>
          <p:cNvPr id="5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502920"/>
            <a:ext cx="2011680" cy="11782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20848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DATOS · BUSINESS INTELLIGENCE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23774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Finanzas: rentabilidad, retorno y liquidez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36118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resultados, balance y flujo de caja mensual para medir si el crecimiento genera valor y caja.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9905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4497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4497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Foods S.A. (ficticia)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49017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13609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813609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· Tableau · Excel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88129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52721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852721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– 2024</a:t>
            </a:r>
            <a:endParaRPr lang="en-US" sz="1200" dirty="0"/>
          </a:p>
        </p:txBody>
      </p:sp>
      <p:pic>
        <p:nvPicPr>
          <p:cNvPr id="18" name="Image 1" descr="D:\GitHub\AnalisisDeDatos\docs\capturas\pbi_3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094554"/>
            <a:ext cx="3749040" cy="210857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55280" y="1094554"/>
            <a:ext cx="3749040" cy="210857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20" name="Image 2" descr="D:\GitHub\AnalisisDeDatos\docs\capturas\tab_3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816279"/>
            <a:ext cx="3566160" cy="196864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183880" y="3816279"/>
            <a:ext cx="3566160" cy="19686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MOTIVO DEL ANÁLISIS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ANALIZAR LAS FINANZAS?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más no garantiza ganar más ni tener caja disponible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el efecto del crecimiento, los costos y los gastos para entender cuánto de cada peso vendido termina como utilidad.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DE LA INVERSIÓN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julio de 2024 se invirtió en una nueva línea productiva. Hay que medir si el capital invertido está rindiendo.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LIQUIDEZ Y CAJA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empresa rentable puede quedarse sin caja si cobra lento, paga rápido o invierte más de lo que genera.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905" y="4160520"/>
            <a:ext cx="1097188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9" y="4169664"/>
            <a:ext cx="201168" cy="112471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9673" y="434340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CLAVE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39673" y="4562856"/>
            <a:ext cx="102860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crecimiento de Magic Foods está generando rentabilidad y caja suficiente para sostener la operación y la inversión?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FINANZAS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QUÉ BUSCAMOS CONTROLAR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BAJO CONTROL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Rentabilidad, retorno, liquidez y flujo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MÁRGENES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Bruto, EBITDA y neto sobre ingresos.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queda de cada peso vendido.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operacional antes de depreciación.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de generar caja de la operación.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 · ROA · ROI · ROCE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Utilidad o EBIT anualizado sobre patrimonio, activos y capital.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capital invertido rinde.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278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ÁCIDO Y CAPITAL CIRCULANTE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9278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corriente sin inventario / pasivo corriente.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de pagar obligaciones de corto plazo.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67200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50080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OPERATIVO Y LIBRE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50080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generada por la operación y después de inversiones.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Sostenibilidad del crecimiento.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92449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0737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 COBRO Y DE PAGO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10737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por cobrar y por pagar en días de venta y costo.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del capital de trabajo.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905" y="4754880"/>
            <a:ext cx="1097188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9" y="4764024"/>
            <a:ext cx="201168" cy="9418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9673" y="493776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QUE ENTREGA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9673" y="5157216"/>
            <a:ext cx="10286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lectura mensual para la gerencia: si el negocio es más rentable, si el capital rinde y si la caja alcanza.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FINANZAS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EN POWER BI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«Finanzas» del informe</a:t>
            </a:r>
            <a:endParaRPr lang="en-US" sz="1350" dirty="0"/>
          </a:p>
        </p:txBody>
      </p:sp>
      <p:pic>
        <p:nvPicPr>
          <p:cNvPr id="7" name="Image 0" descr="D:\GitHub\AnalisisDeDatos\docs\capturas\pbi_3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565" y="1645920"/>
            <a:ext cx="7722565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34565" y="1645920"/>
            <a:ext cx="7722565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KPI financieros · márgenes mensuales · flujo operativo y libre · ingresos vs EBITDA · retornos anualizados por año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FINANZAS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DASHBOARD EN TABLEAU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indicadores, gráficos, tablas y filtros, construidos en Tableau</a:t>
            </a:r>
            <a:endParaRPr lang="en-US" sz="1350" dirty="0"/>
          </a:p>
        </p:txBody>
      </p:sp>
      <p:pic>
        <p:nvPicPr>
          <p:cNvPr id="7" name="Image 0" descr="D:\GitHub\AnalisisDeDatos\docs\capturas\tab_3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851" y="1645920"/>
            <a:ext cx="7867993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1851" y="1645920"/>
            <a:ext cx="7867993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1:1 de la página de Power BI · filtros con parámetros · campos calculados · doble eje · nombres y valores de medidas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FINANZAS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RESULTADOS 2023 VS 2024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RENTABLES, PERO CON MENOS CAJA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los principales indicadores entre ambos años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$183,5 M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92785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$147,4 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92785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+24,5%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52876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756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UTILIDAD NETA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35756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$70,5 M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535756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$49,8 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35756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+41,4%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48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8728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 ANUALIZADO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6,1%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+2,0 pp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38819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21699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AL CIERRE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21699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$31,3 M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9021699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$161,6 M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21699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-80,6%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9905" y="4343400"/>
            <a:ext cx="1097188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049" y="4352544"/>
            <a:ext cx="201168" cy="11704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9673" y="452628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39673" y="4745736"/>
            <a:ext cx="102860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ingresos crecieron +13,8% y el EBITDA +24,5%: los gastos crecieron menos que la venta (bajaron de 17,7% a 16,5% de los ingresos). Pero la caja cayó a $31,3 M por la inversión de $223,0 M en la nueva línea y por cobrar más lento.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FINANZAS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COMPORTAMIENTO MENSUAL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MÁRGENES ESTABLES CON MEJORA EN 2024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bruto, EBITDA y neto por mes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MÁRGENES MENSUALES (%)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BRUTO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levemente (27,5% → 27,2%) por el alza de 4,5% en el costo de insumos de 2024.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EN GASTOS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margen EBITDA sube de 9,8% a 10,7%: los gastos fijos se diluyen con más venta.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NETO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de 3,3% a 4,1%, a pesar de los mayores intereses por la nueva deuda.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FINANZAS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FLUJO DE CAJA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OPERACIÓN GENERA POCA CAJA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operativo y flujo de caja libre por año (M$)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CAJA ANUAL (M$)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OPERATIVO BAJO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$32,7 M en 2024 frente a una utilidad de $70,5 M: el capital de trabajo absorbe la caja.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COBRAMOS MÁS LENTO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días de cobro suben de 75 a 81 días, mientras los días de pago bajan de 59 a 48.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CON DEUDA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nueva línea se financió en parte con deuda: sube de $187,8 M a $262,8 M.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FINANZAS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HALLAZGOS CLAVE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DICEN LOS DATOS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hallazgos para la gerencia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1073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APALANCAMIENTO OPERATIVO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1073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+0,9 pp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50185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mejora en margen EBITDA: la estructura de gastos soporta más venta sin crecer al mismo ritmo.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7016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RETORNOS AL ALZA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97016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36128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ROCE en 2024 (antes 8,5%). El capital empleado rinde más, aunque aún está bajo el costo típico de financiamiento.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073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EN MÍNIMO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11073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$31,3 M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850185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cierre de 2024. Es menos de un mes de gastos: poco margen ante un atraso de clientes o una alza de costos.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7016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LIQUIDEZ AÚN SANA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97016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2,41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336128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test ácido. La empresa puede cubrir sus deudas de corto plazo, pero depende de cobrar a tiempo.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FINANZAS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MEDIDAS A TOMAR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RECOMENDADAS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la caja sin frenar la rentabilidad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INMEDIATA · 0 A 3 MESES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905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2785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41425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de caja a 13 semanas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Proyectar semanalmente cobros y pagos para anticipar meses de caja ajustada.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905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785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41425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Acelerar la cobranza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Bajar los días de cobro de 81 a 65 días con gestión activa de la cartera vencida.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2785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41425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Negociar plazos con proveedores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 unos 55 días de pago de forma pactada, sin caer en atrasos.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5848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8728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· 3 A 12 MESES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5848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8728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Reestructurar la deuda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Llevar la deuda de la nueva línea a largo plazo, con cuotas acordes al flujo que genere.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5848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78728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la inversión 2025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Postergar inversiones no críticas hasta recuperar un colchón de caja.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95848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78728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el margen bruto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precio con proveedores clave y traspaso gradual de costos a precio.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FINANZAS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metas 2025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3258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propuestas para el próximo período</a:t>
            </a:r>
            <a:endParaRPr lang="en-US" sz="1350" dirty="0"/>
          </a:p>
        </p:txBody>
      </p:sp>
      <p:pic>
        <p:nvPicPr>
          <p:cNvPr id="7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8750" y="411480"/>
            <a:ext cx="1463040" cy="8569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278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EBITDA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9278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10,7% a 12%.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67200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0080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MÍNIMA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450080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al menos un mes de gastos operacionales disponible.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2449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0737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 COBRO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10737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Bajar a 65 días.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90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278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LIBRE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9278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 flujo de caja libre positivo.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67200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50080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450080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Superar 10% anualizado.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2449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0737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10737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mensual con el dashboard y presupuesto de caja semanal.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9905" y="4617720"/>
            <a:ext cx="804580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049" y="4626864"/>
            <a:ext cx="201168" cy="13990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673" y="4800600"/>
            <a:ext cx="7405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39673" y="5020056"/>
            <a:ext cx="73600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empresa es más rentable y eficiente, pero el crecimiento y la inversión consumieron la caja. El foco para 2025 es transformar utilidad en caja: cobrar antes y ordenar la deuda.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838590" y="46177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21470" y="4782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POR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02147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del Río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Ingeniero en Informática · BI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SpA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studiosconari@gmail.com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FINANZAS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Studios Conari SpA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Finanzas: rentabilidad, retorno y liquidez</dc:title>
  <dc:subject>PptxGenJS Presentation</dc:subject>
  <dc:creator>Kevin del Río · Studios Conari SpA</dc:creator>
  <cp:lastModifiedBy>Kevin del Río · Studios Conari SpA</cp:lastModifiedBy>
  <cp:revision>1</cp:revision>
  <dcterms:created xsi:type="dcterms:W3CDTF">2026-09-25T23:24:05Z</dcterms:created>
  <dcterms:modified xsi:type="dcterms:W3CDTF">2026-09-25T23:24:05Z</dcterms:modified>
</cp:coreProperties>
</file>