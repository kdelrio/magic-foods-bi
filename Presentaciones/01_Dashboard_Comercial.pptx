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ln w="31750" cap="flat">
              <a:solidFill>
                <a:srgbClr val="C9C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9CED8"/>
              </a:solidFill>
              <a:ln w="9525" cap="flat">
                <a:solidFill>
                  <a:srgbClr val="C9C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148.952312</c:v>
                </c:pt>
                <c:pt idx="1">
                  <c:v>117.153334</c:v>
                </c:pt>
                <c:pt idx="2">
                  <c:v>135.62776</c:v>
                </c:pt>
                <c:pt idx="3">
                  <c:v>123.289104</c:v>
                </c:pt>
                <c:pt idx="4">
                  <c:v>138.510978</c:v>
                </c:pt>
                <c:pt idx="5">
                  <c:v>105.168246</c:v>
                </c:pt>
                <c:pt idx="6">
                  <c:v>118.639114</c:v>
                </c:pt>
                <c:pt idx="7">
                  <c:v>120.914495</c:v>
                </c:pt>
                <c:pt idx="8">
                  <c:v>111.18789</c:v>
                </c:pt>
                <c:pt idx="9">
                  <c:v>123.277228</c:v>
                </c:pt>
                <c:pt idx="10">
                  <c:v>133.086326</c:v>
                </c:pt>
                <c:pt idx="11">
                  <c:v>137.969524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ln w="31750" cap="flat">
              <a:solidFill>
                <a:srgbClr val="1529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5294A"/>
              </a:solidFill>
              <a:ln w="9525" cap="flat">
                <a:solidFill>
                  <a:srgbClr val="1529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146.630432</c:v>
                </c:pt>
                <c:pt idx="1">
                  <c:v>148.552004</c:v>
                </c:pt>
                <c:pt idx="2">
                  <c:v>125.15279</c:v>
                </c:pt>
                <c:pt idx="3">
                  <c:v>150.957461</c:v>
                </c:pt>
                <c:pt idx="4">
                  <c:v>142.603417</c:v>
                </c:pt>
                <c:pt idx="5">
                  <c:v>126.168509</c:v>
                </c:pt>
                <c:pt idx="6">
                  <c:v>150.227485</c:v>
                </c:pt>
                <c:pt idx="7">
                  <c:v>149.975423</c:v>
                </c:pt>
                <c:pt idx="8">
                  <c:v>131.046504</c:v>
                </c:pt>
                <c:pt idx="9">
                  <c:v>145.148116</c:v>
                </c:pt>
                <c:pt idx="10">
                  <c:v>150.325775</c:v>
                </c:pt>
                <c:pt idx="11">
                  <c:v>152.389748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Centro</c:v>
                  </c:pt>
                  <c:pt idx="2">
                    <c:v>Centro Sur</c:v>
                  </c:pt>
                  <c:pt idx="3">
                    <c:v>Sur</c:v>
                  </c:pt>
                  <c:pt idx="4">
                    <c:v>Austral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480.442004</c:v>
                </c:pt>
                <c:pt idx="1">
                  <c:v>470.843153</c:v>
                </c:pt>
                <c:pt idx="2">
                  <c:v>287.57348</c:v>
                </c:pt>
                <c:pt idx="3">
                  <c:v>190.646611</c:v>
                </c:pt>
                <c:pt idx="4">
                  <c:v>84.271063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Centro</c:v>
                  </c:pt>
                  <c:pt idx="2">
                    <c:v>Centro Sur</c:v>
                  </c:pt>
                  <c:pt idx="3">
                    <c:v>Sur</c:v>
                  </c:pt>
                  <c:pt idx="4">
                    <c:v>Austral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560.101728</c:v>
                </c:pt>
                <c:pt idx="1">
                  <c:v>506.683207</c:v>
                </c:pt>
                <c:pt idx="2">
                  <c:v>341.09297</c:v>
                </c:pt>
                <c:pt idx="3">
                  <c:v>233.615832</c:v>
                </c:pt>
                <c:pt idx="4">
                  <c:v>77.683927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865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dashboard comercial de Magic Foods, empresa ficticia con datos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7536" y="195682"/>
            <a:ext cx="4274820" cy="6466637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pic>
        <p:nvPicPr>
          <p:cNvPr id="5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502920"/>
            <a:ext cx="2011680" cy="1178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2084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 · BUSINESS INTELLIGENCE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2377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Comercial: ventas, mix y regiones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611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de las ventas 2023–2024 por canal, región y producto, para decidir dónde crecer y qué corregir.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9905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4497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4497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S.A. (ficticia)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49017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13609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813609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· Tableau · Excel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88129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52721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852721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– 2024</a:t>
            </a:r>
            <a:endParaRPr lang="en-US" sz="1200" dirty="0"/>
          </a:p>
        </p:txBody>
      </p:sp>
      <p:pic>
        <p:nvPicPr>
          <p:cNvPr id="18" name="Image 1" descr="D:\GitHub\AnalisisDeDatos\docs\capturas\pbi_1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94554"/>
            <a:ext cx="3749040" cy="210857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55280" y="1094554"/>
            <a:ext cx="3749040" cy="210857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20" name="Image 2" descr="D:\GitHub\AnalisisDeDatos\docs\capturas\tab_1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816279"/>
            <a:ext cx="3566160" cy="196864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83880" y="3816279"/>
            <a:ext cx="3566160" cy="19686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MOTIVO DEL ANÁLISIS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ANALIZAMOS LAS VENTAS?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 es el motor del negocio, pero crecer no siempre significa crecer bien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 CON RENTABILIDAD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Necesitamos saber si el aumento de ventas viene acompañado de margen, o si estamos vendiendo más a costa de descuentos y productos poco rentables.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 NACIONAL DESIGUAL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Atendemos 16 regiones desde una planta en Concepción. Hay que entender qué zonas empujan el crecimiento y cuáles se están quedando atrás.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DE 30 PRODUCTOS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SKU ocupa capacidad de planta y espacio en góndola. Identificar productos de baja rotación y bajo margen permite liberar recursos.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905" y="4160520"/>
            <a:ext cx="1097188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9" y="4169664"/>
            <a:ext cx="201168" cy="112471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9673" y="434340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CLAVE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39673" y="4562856"/>
            <a:ext cx="102860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está creciendo Magic Foods, con qué nivel de margen, y qué productos, canales o regiones requieren una decisión comercial?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QUÉ BUSCAMOS CONTROLAR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BAJO CONTROL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medidas DAX que resumen la salud comercial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de venta neta de pedidos no anulados.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y crecimiento del negocio.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 %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(Venta − costo) / venta.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crecemos sin perder rentabilidad.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Y TICKET PROMEDIO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distintos y venta por pedido.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crecemos por más clientes o por pedidos más grandes.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 INTERANUAL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278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seleccionado vs año anterior.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de crecimiento comparable.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67200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0080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POR CANAL Y REGIÓN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50080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geográfica y comercial.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y oportunidades de expansión.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2449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0737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Y MARGEN POR SKU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0737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vendidas y margen por producto.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a potenciar, reformular o retirar.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905" y="4754880"/>
            <a:ext cx="1097188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9" y="4764024"/>
            <a:ext cx="201168" cy="9418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9673" y="493776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QUE ENTREGA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673" y="5157216"/>
            <a:ext cx="10286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vista para gerencia y jefaturas: cuánto vendemos, dónde, a qué margen y con qué productos, filtrable por macrozona, canal, año y mes.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EN POWER BI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«Resumen Comercial» del informe</a:t>
            </a:r>
            <a:endParaRPr lang="en-US" sz="1350" dirty="0"/>
          </a:p>
        </p:txBody>
      </p:sp>
      <p:pic>
        <p:nvPicPr>
          <p:cNvPr id="7" name="Image 0" descr="D:\GitHub\AnalisisDeDatos\docs\capturas\pbi_1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565" y="1645920"/>
            <a:ext cx="7722565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34565" y="1645920"/>
            <a:ext cx="7722565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por macrozona, canal, año y mes · comparativo mensual 2023 vs 2024 · ventas por canal y región · mix y ranking de productos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DASHBOARD EN TABLEAU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indicadores, gráficos, tablas y filtros, construidos en Tableau</a:t>
            </a:r>
            <a:endParaRPr lang="en-US" sz="1350" dirty="0"/>
          </a:p>
        </p:txBody>
      </p:sp>
      <p:pic>
        <p:nvPicPr>
          <p:cNvPr id="7" name="Image 0" descr="D:\GitHub\AnalisisDeDatos\docs\capturas\tab_1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851" y="1645920"/>
            <a:ext cx="7867993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1851" y="1645920"/>
            <a:ext cx="7867993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1:1 de la página de Power BI · filtros con parámetros · campos calculados · doble eje · nombres y valores de medidas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RESULTADOS 2023 VS 2024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CRECIMOS 13,6% CON MARGEN ESTABLE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los principales indicadores entre ambos años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$1.719,2 M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92785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$1.513,8 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92785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+13,6% interanual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2876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756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756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28,6%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535756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28,8%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35756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-0,2 pp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4.400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4.372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+0,6%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38819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21699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PROMEDIO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21699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$391 mil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9021699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$346 mil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21699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+12,8%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9905" y="4343400"/>
            <a:ext cx="1097188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9" y="4352544"/>
            <a:ext cx="201168" cy="11704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3" y="452628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39673" y="4745736"/>
            <a:ext cx="102860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crecimiento se explica casi por completo por un ticket más alto (alza de precios de 5% desde marzo 2024 y pedidos más grandes): la cantidad de pedidos prácticamente no cambió (+0,6%). El margen se mantuvo, pero bajó levemente por el alza de costos de insumos.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COMPORTAMIENTO MENSUAL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SUPERA A 2023 CASI TODO EL AÑO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 mensuales en millones de pesos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 MENSUALES (M$)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ESTACIONALIDAD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meses de verano (diciembre a febrero) concentran las ventas por jugos, frutas y ensaladas; junio y septiembre son los valles.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CRECIENTE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abril, 2024 se mantiene sobre 2023 todos los meses: el alza de precios de marzo se sostuvo sin perder volumen.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valle de invierno es el momento para impulsar postres y sándwiches, que se venden mejor en meses fríos.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DÓNDE CRECEMOS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SUR Y EL NORTE EMPUJAN; LA ZONA AUSTRAL CAE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por macrozona en millones de pesos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POR MACROZONA (M$)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 POR ZONA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Norte +16,6% · Centro +7,6% · Centro Sur +18,6% · Sur +22,5% · Austral -7,8%.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AUSTRAL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única que retrocede (-7,8%). Con pocos clientes, perder volumen en uno impacta toda la zona.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REGIONES MARGINALES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regiones aportan menos de 1% cada una (Maule, O'Higgins, Aysén, Ñuble…). Maule, O'Higgins y Ñuble están cerca de la planta.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HALLAZGOS CLAVE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hallazgos que requieren una decisión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1073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ESTRELLA CON MARGEN MÍNIMO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1073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50185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«Ensalada Quinoa y Palta 250 g» vende $126,2 M en dos años, pero deja solo 3,4% de margen: se vende mucho y se gana casi nada.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7016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ROTACIÓN Y BAJO MARGEN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97016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12.384 u.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6128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«Wrap Vegano» combina baja rotación y margen de 4,5%. Junto con «Manzana en Rodajas» (7.855 u.) son candidatos a revisión.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073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DE SUPERMERCADOS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1073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850185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venta 2024 viene de supermercados. HORECA y distribuidores crecen más rápido (+16%) pero aún pesan poco.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7016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 DE CLIENTES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97016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336128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venta 2024 se concentra en los 10 principales clientes. Perder uno de ellos afectaría fuertemente el resultado.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MEDIDAS A TOMAR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RECOMENDADAS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derivadas del comportamiento 2023–2024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INMEDIATA · 0 A 3 MESES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905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2785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41425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Corregir el precio de «Ensalada Quinoa y Palta»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receta y costo de palta; subir precio o reformular para llevar su margen sobre 20%.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5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785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41425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retención en zona Austral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Visitar a los clientes de Punta Arenas y Coyhaique, revisar precios y frecuencia de despacho.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785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41425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sobre productos de baja rotación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Reformular o retirar «Wrap Vegano» y evaluar formatos de «Manzana en Rodajas».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5848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8728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· 3 A 12 MESES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Diversificar canales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comercial para HORECA y tiendas de conveniencia, que crecen rápido y tienen mejor precio.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8728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 en regiones cercanas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cartera en Maule, O'Higgins y Ñuble aprovechando la cercanía logística a Concepción.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5848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8728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 de invierno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Impulsar postres y sándwiches en junio–septiembre para suavizar la estacionalidad.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metas 2025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3258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propuestas para el próximo período</a:t>
            </a:r>
            <a:endParaRPr lang="en-US" sz="1350" dirty="0"/>
          </a:p>
        </p:txBody>
      </p:sp>
      <p:pic>
        <p:nvPicPr>
          <p:cNvPr id="7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8750" y="411480"/>
            <a:ext cx="1463040" cy="8569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9278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Crecer 10% en 2025, sin depender solo del alza de precios.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67200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0080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450080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de 28,6% a 29,5% corrigiendo SKUs de bajo margen.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2449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0737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737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la participación de los 10 principales clientes a menos de 50%.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278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AUSTRAL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9278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crecimiento positivo en la macrozona.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67200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50080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450080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Llevar HORECA y conveniencia a 10% de la venta total.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2449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737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10737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mensual del dashboard con la jefatura comercial.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9905" y="4617720"/>
            <a:ext cx="804580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9" y="4626864"/>
            <a:ext cx="201168" cy="13990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673" y="4800600"/>
            <a:ext cx="7405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39673" y="5020056"/>
            <a:ext cx="7360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crece a buen ritmo, pero el crecimiento depende del precio y de pocos clientes. La prioridad es convertir volumen en margen y ampliar la base de clientes y regiones.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838590" y="46177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21470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02147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del Río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 en Informática · BI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studiosconari@gmail.com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COMERCIAL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Studios Conari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Comercial: ventas, mix y regiones</dc:title>
  <dc:subject>PptxGenJS Presentation</dc:subject>
  <dc:creator>Kevin del Río · Studios Conari SpA</dc:creator>
  <cp:lastModifiedBy>Kevin del Río · Studios Conari SpA</cp:lastModifiedBy>
  <cp:revision>1</cp:revision>
  <dcterms:created xsi:type="dcterms:W3CDTF">2026-09-25T23:24:05Z</dcterms:created>
  <dcterms:modified xsi:type="dcterms:W3CDTF">2026-09-25T23:24:05Z</dcterms:modified>
</cp:coreProperties>
</file>