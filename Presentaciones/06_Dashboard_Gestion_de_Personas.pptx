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Comercial</c:v>
                  </c:pt>
                  <c:pt idx="1">
                    <c:v>Administración y Finanzas</c:v>
                  </c:pt>
                  <c:pt idx="2">
                    <c:v>Bodega y Despacho</c:v>
                  </c:pt>
                  <c:pt idx="3">
                    <c:v>Calidad</c:v>
                  </c:pt>
                  <c:pt idx="4">
                    <c:v>Producción</c:v>
                  </c:pt>
                  <c:pt idx="5">
                    <c:v>Tecnologías de la Información</c:v>
                  </c:pt>
                  <c:pt idx="6">
                    <c:v>Personas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2.2988505747126435</c:v>
                </c:pt>
                <c:pt idx="1">
                  <c:v>2.413793103448276</c:v>
                </c:pt>
                <c:pt idx="2">
                  <c:v>2.9693486590038316</c:v>
                </c:pt>
                <c:pt idx="3">
                  <c:v>4.202586206896552</c:v>
                </c:pt>
                <c:pt idx="4">
                  <c:v>2.57183908045977</c:v>
                </c:pt>
                <c:pt idx="5">
                  <c:v>2.442528735632184</c:v>
                </c:pt>
                <c:pt idx="6">
                  <c:v>1.293103448275862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Comercial</c:v>
                  </c:pt>
                  <c:pt idx="1">
                    <c:v>Administración y Finanzas</c:v>
                  </c:pt>
                  <c:pt idx="2">
                    <c:v>Bodega y Despacho</c:v>
                  </c:pt>
                  <c:pt idx="3">
                    <c:v>Calidad</c:v>
                  </c:pt>
                  <c:pt idx="4">
                    <c:v>Producción</c:v>
                  </c:pt>
                  <c:pt idx="5">
                    <c:v>Tecnologías de la Información</c:v>
                  </c:pt>
                  <c:pt idx="6">
                    <c:v>Personas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4.095441595441596</c:v>
                </c:pt>
                <c:pt idx="1">
                  <c:v>2.9914529914529915</c:v>
                </c:pt>
                <c:pt idx="2">
                  <c:v>2.611585944919278</c:v>
                </c:pt>
                <c:pt idx="3">
                  <c:v>2.564102564102564</c:v>
                </c:pt>
                <c:pt idx="4">
                  <c:v>2.1794871794871793</c:v>
                </c:pt>
                <c:pt idx="5">
                  <c:v>1.282051282051282</c:v>
                </c:pt>
                <c:pt idx="6">
                  <c:v>0.4273504273504274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ln w="31750" cap="flat">
              <a:solidFill>
                <a:srgbClr val="C9C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CED8"/>
              </a:solidFill>
              <a:ln w="9525" cap="flat">
                <a:solidFill>
                  <a:srgbClr val="C9C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236.5</c:v>
                </c:pt>
                <c:pt idx="1">
                  <c:v>93.25</c:v>
                </c:pt>
                <c:pt idx="2">
                  <c:v>134.5</c:v>
                </c:pt>
                <c:pt idx="3">
                  <c:v>120.75</c:v>
                </c:pt>
                <c:pt idx="4">
                  <c:v>157</c:v>
                </c:pt>
                <c:pt idx="5">
                  <c:v>143.5</c:v>
                </c:pt>
                <c:pt idx="6">
                  <c:v>121.75</c:v>
                </c:pt>
                <c:pt idx="7">
                  <c:v>156</c:v>
                </c:pt>
                <c:pt idx="8">
                  <c:v>88.25</c:v>
                </c:pt>
                <c:pt idx="9">
                  <c:v>116.75</c:v>
                </c:pt>
                <c:pt idx="10">
                  <c:v>126</c:v>
                </c:pt>
                <c:pt idx="11">
                  <c:v>202.75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ln w="31750" cap="flat">
              <a:solidFill>
                <a:srgbClr val="1529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5294A"/>
              </a:solidFill>
              <a:ln w="9525" cap="flat">
                <a:solidFill>
                  <a:srgbClr val="152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286</c:v>
                </c:pt>
                <c:pt idx="1">
                  <c:v>153.25</c:v>
                </c:pt>
                <c:pt idx="2">
                  <c:v>128.5</c:v>
                </c:pt>
                <c:pt idx="3">
                  <c:v>154.5</c:v>
                </c:pt>
                <c:pt idx="4">
                  <c:v>164.25</c:v>
                </c:pt>
                <c:pt idx="5">
                  <c:v>149.25</c:v>
                </c:pt>
                <c:pt idx="6">
                  <c:v>133</c:v>
                </c:pt>
                <c:pt idx="7">
                  <c:v>171.5</c:v>
                </c:pt>
                <c:pt idx="8">
                  <c:v>106.25</c:v>
                </c:pt>
                <c:pt idx="9">
                  <c:v>171.5</c:v>
                </c:pt>
                <c:pt idx="10">
                  <c:v>167.5</c:v>
                </c:pt>
                <c:pt idx="11">
                  <c:v>323.5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personas: asistencia y horas extra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Ausentismo, puntualidad, licencias médicas y horas extraordinarias a partir de los registros de marcación.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6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6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ANALIZAR LA ASISTENCIA?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son la capacidad productiva de la empresa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OPERATIVA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planta con turnos, cada ausencia obliga a reemplazos o a horas extra para cumplir con la producción.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LABORAL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horas extraordinarias se pagan con recargo de 50%. Un uso permanente indica falta de dotación.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BIENESTAR DEL EQUIPO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ausentismo y las licencias son señales tempranas de sobrecarga, clima laboral o problemas de salud.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¿Tenemos a las personas disponibles cuando se necesitan, a un costo razonable y sin sobrecargar al equipo?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Calculados desde los registros diarios de marcación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AUSENTISMO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(Ausencias + días de licencia) / días laborales sin vacaciones.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 real del personal.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AUSENCIAS INJUSTIFICADAS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sin marcación ni licencia o permiso.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y disciplina laboral.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PUNTUALIDAD %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presentes sin atraso sobre 5 minutos de tolerancia.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turnos.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sobre la jornada, en tramos de 15 minutos.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y señal de falta de dotación.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MÉDICAS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Cantidad, duración y tipo de licencia.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y seguridad laboral.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TRABAJADOR Y ÁREA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individuales y por área.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Focalizar las acciones.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 la jefatura de personas detectar áreas con problemas de asistencia y planificar la dotación de temporada alta.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«Personas» del informe</a:t>
            </a:r>
            <a:endParaRPr lang="en-US" sz="1350" dirty="0"/>
          </a:p>
        </p:txBody>
      </p:sp>
      <p:pic>
        <p:nvPicPr>
          <p:cNvPr id="7" name="Image 0" descr="D:\GitHub\AnalisisDeDatos\docs\capturas\pbi_6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Ausentismo por área · horas extra por mes · distribución de asistencia · detalle por trabajador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6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PUNTUALIDAD, MÁS HORAS EXTRA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los principales indicadores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AUSENTISMO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2,58%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2,62%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-0,04 pp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AUSENCIAS INJUSTIFICADAS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1,43%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1,68%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-0,26 pp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PUNTUALIDAD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94,3%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93,1%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+1,1 pp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2.109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1.697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+24,3%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de control de asistencia de 2024 funcionó: bajan las ausencias injustificadas y mejora la puntualidad. El ausentismo total casi no cambia porque los días de licencia médica subieron (141 → 176). Las horas extra crecieron +24,3% con la mayor producción.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AUSENTISMO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ÁREA COMERCIAL CASI DUPLICA SU AUSENTISMO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ausentismo por área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AUSENTISMO POR ÁREA (%)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de 2,3% a 4,1%: la mayor alza, en el equipo que también tiene metas más exigentes.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de 4,2% a 2,6%, el mejor avance del año.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son por enfermedad común (66 de 78); hubo 8 accidentes del trabajo en dos años.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HORAS EXTRAORDINARIAS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HORAS EXTRA SE DISPARAN EN VERANO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 por 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 POR MES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TEMPORADA ALTA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Diciembre y enero concentran las horas extra por la demanda de jugos, frutas y ensaladas.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Y BODEGA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pasa de 868 a 1.076 horas y bodega de 264 a 350.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PERSONA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32,4 horas extra por trabajador en 2024 (antes 26,1).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para la jefatura de personas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FUNCIONA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-0,26 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ausencias injustificadas y +1,1 pp en puntualidad tras el programa de asistencia 2024.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MÁS LARGAS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 días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licencia en 2024 (antes 141) con menos licencias: los casos son más largos y requieren seguimiento.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EN EL ÁREA COMERCIAL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ausentismo en el área comercial, casi el doble que en 2023. Puede reflejar presión por metas o clima laboral.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 ESTRUCTURALES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+24,3%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horas extra. En temporada alta, contratar personal temporal puede costar menos que pagar recargos.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Cuidar la disponibilidad del equipo y el costo laboral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en el área comercial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y encuesta de clima para entender el alza de ausentismo.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licencias largas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periódico, apoyo al reintegro y revisión de puestos con más licencias.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programa de asistencia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el control de puntualidad que ya mostró resultados.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Dotación para temporada alta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Contratar personal temporal de diciembre a febrero en producción y bodega.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horas extra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 previa y tope mensual por trabajador para evitar sobrecarga.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de riesgos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seguridad para reducir accidentes del trabajo en planta y bodega.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AUSENTISMO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la tasa total a menos de 2,3%.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COMERCIAL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un ausentismo cercano a 2,5%.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PUNTUALIDAD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Superar 95%.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15% con dotación temporal en temporada alta.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Disminuir los días de licencia con prevención y seguimiento.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mensual por área con las jefaturas.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disciplina de asistencia mejoró, pero el equipo trabaja más horas y aparecen señales de desgaste en el área comercial. La planificación de dotación para temporada alta es la medida con mayor impacto.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GESTIÓN DE PERSONAS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 personas: asistencia y horas extra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