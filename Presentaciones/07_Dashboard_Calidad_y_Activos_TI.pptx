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C9CE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Cuerpo extraño</c:v>
                  </c:pt>
                  <c:pt idx="1">
                    <c:v>Faltante en pedido</c:v>
                  </c:pt>
                  <c:pt idx="2">
                    <c:v>Error de etiquetado</c:v>
                  </c:pt>
                  <c:pt idx="3">
                    <c:v>Envase dañado o mal sellado</c:v>
                  </c:pt>
                  <c:pt idx="4">
                    <c:v>Vida útil reducida</c:v>
                  </c:pt>
                  <c:pt idx="5">
                    <c:v>Temperatura inadecuada</c:v>
                  </c:pt>
                  <c:pt idx="6">
                    <c:v>Sabor u olor anómalo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</c:v>
                </c:pt>
                <c:pt idx="1">
                  <c:v>20</c:v>
                </c:pt>
                <c:pt idx="2">
                  <c:v>27</c:v>
                </c:pt>
                <c:pt idx="3">
                  <c:v>21</c:v>
                </c:pt>
                <c:pt idx="4">
                  <c:v>22</c:v>
                </c:pt>
                <c:pt idx="5">
                  <c:v>22</c:v>
                </c:pt>
                <c:pt idx="6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1529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Cuerpo extraño</c:v>
                  </c:pt>
                  <c:pt idx="1">
                    <c:v>Faltante en pedido</c:v>
                  </c:pt>
                  <c:pt idx="2">
                    <c:v>Error de etiquetado</c:v>
                  </c:pt>
                  <c:pt idx="3">
                    <c:v>Envase dañado o mal sellado</c:v>
                  </c:pt>
                  <c:pt idx="4">
                    <c:v>Vida útil reducida</c:v>
                  </c:pt>
                  <c:pt idx="5">
                    <c:v>Temperatura inadecuada</c:v>
                  </c:pt>
                  <c:pt idx="6">
                    <c:v>Sabor u olor anómalo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19</c:v>
                </c:pt>
                <c:pt idx="1">
                  <c:v>19</c:v>
                </c:pt>
                <c:pt idx="2">
                  <c:v>18</c:v>
                </c:pt>
                <c:pt idx="3">
                  <c:v>16</c:v>
                </c:pt>
                <c:pt idx="4">
                  <c:v>16</c:v>
                </c:pt>
                <c:pt idx="5">
                  <c:v>15</c:v>
                </c:pt>
                <c:pt idx="6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865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6E9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865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50">
              <a:solidFill>
                <a:srgbClr val="15294A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Equipos</c:v>
                </c:pt>
              </c:strCache>
            </c:strRef>
          </c:tx>
          <c:spPr>
            <a:solidFill>
              <a:srgbClr val="1529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8657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Vigente</c:v>
                  </c:pt>
                  <c:pt idx="1">
                    <c:v>Obsoleto</c:v>
                  </c:pt>
                  <c:pt idx="2">
                    <c:v>Dado de baja</c:v>
                  </c:pt>
                  <c:pt idx="3">
                    <c:v>Por renovar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29</c:v>
                </c:pt>
                <c:pt idx="2">
                  <c:v>12</c:v>
                </c:pt>
                <c:pt idx="3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58657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865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9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865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17536" y="195682"/>
            <a:ext cx="4274820" cy="6466637"/>
          </a:xfrm>
          <a:prstGeom prst="rect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</p:sp>
      <p:pic>
        <p:nvPicPr>
          <p:cNvPr id="5" name="Image 0" descr="D:\GitHub\AnalisisDeDatos\scripts\presentaciones\logo_studios_cona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5" y="502920"/>
            <a:ext cx="2011680" cy="117827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09905" y="208483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DATOS · BUSINESS INTELLIGENCE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09905" y="237744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calidad y activos tecnológicos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609905" y="361188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 de reclamos, impacto del formulario estandarizado y estado del parque computacional.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09905" y="5394960"/>
            <a:ext cx="203911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4497" y="551383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774497" y="5742432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Magic Foods S.A. (ficticia)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649017" y="5394960"/>
            <a:ext cx="203911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813609" y="551383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2813609" y="5742432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· Tableau · Excel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88129" y="5394960"/>
            <a:ext cx="203911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52721" y="551383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852721" y="5742432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 – 2024</a:t>
            </a:r>
            <a:endParaRPr lang="en-US" sz="1200" dirty="0"/>
          </a:p>
        </p:txBody>
      </p:sp>
      <p:pic>
        <p:nvPicPr>
          <p:cNvPr id="18" name="Image 1" descr="D:\GitHub\AnalisisDeDatos\docs\capturas\pbi_7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1094554"/>
            <a:ext cx="3749040" cy="210857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7955280" y="1094554"/>
            <a:ext cx="3749040" cy="210857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33D63"/>
            </a:solidFill>
            <a:prstDash val="solid"/>
          </a:ln>
        </p:spPr>
      </p:sp>
      <p:pic>
        <p:nvPicPr>
          <p:cNvPr id="20" name="Image 2" descr="D:\GitHub\AnalisisDeDatos\docs\capturas\tab_7_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3816279"/>
            <a:ext cx="3566160" cy="196864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8183880" y="3816279"/>
            <a:ext cx="3566160" cy="196864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33D6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MOTIVO DEL ANÁLISIS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ANALIZAR CALIDAD Y TECNOLOGÍA?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confianza del cliente y la continuidad operativa dependen de ambos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3657295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2785" y="185623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ALIMENTARIA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92785" y="2103120"/>
            <a:ext cx="32915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reclamo por cuerpo extraño o temperatura puede terminar en retiro de producto. Cada caso debe ser trazable hasta el lote.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267200" y="1691640"/>
            <a:ext cx="3657295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50080" y="185623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 DEL DATO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450080" y="2103120"/>
            <a:ext cx="32915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marzo de 2024 los reclamos se registraban en planillas libres y correos, con datos incompletos para auditorías.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924495" y="1691640"/>
            <a:ext cx="3657295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07375" y="185623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PARQUE TECNOLÓGICO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107375" y="2103120"/>
            <a:ext cx="32915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Equipos obsoletos o sin soporte afectan la productividad y la seguridad de la información.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09905" y="4160520"/>
            <a:ext cx="10971886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049" y="4169664"/>
            <a:ext cx="201168" cy="1124712"/>
          </a:xfrm>
          <a:prstGeom prst="rect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39673" y="4343400"/>
            <a:ext cx="10331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CLAVE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039673" y="4562856"/>
            <a:ext cx="102860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¿Resolvemos más rápido y con mejor registro los reclamos, y está nuestra tecnología en condiciones de sostener la operación?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CALIDAD Y ACTIVOS TI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QUÉ BUSCAMOS CONTROLAR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BAJO CONTROL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 del producto, del proceso y de los activos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365729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2785" y="1847088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RECLAMOS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92785" y="2093976"/>
            <a:ext cx="329153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Reclamos registrados y por cada mil pedidos entregados.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 percibida por el cliente.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267200" y="1691640"/>
            <a:ext cx="365729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50080" y="1847088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DÍAS DE RESOLUCIÓN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450080" y="2093976"/>
            <a:ext cx="329153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Días desde el reclamo hasta su cierre.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Rapidez de respuesta.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924495" y="1691640"/>
            <a:ext cx="365729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07375" y="1847088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COMPLETO %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107375" y="2093976"/>
            <a:ext cx="329153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Reclamos con todos los campos obligatorios.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 del dato para auditorías.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3108960"/>
            <a:ext cx="365729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2785" y="3264408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RECLAMOS POR TIPO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792785" y="3511296"/>
            <a:ext cx="329153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Cuerpo extraño, etiquetado, temperatura, etc.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actuar con acciones correctivas.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267200" y="3108960"/>
            <a:ext cx="365729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50080" y="3264408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OBSOLESCENCIA TI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450080" y="3511296"/>
            <a:ext cx="329153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Antigüedad del equipo / vida útil.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tecnológico.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924495" y="3108960"/>
            <a:ext cx="365729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07375" y="3264408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RENOVACIÓN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8107375" y="3511296"/>
            <a:ext cx="329153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Equipos y costo por año sugerido de reemplazo.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 de inversión TI.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09905" y="4754880"/>
            <a:ext cx="10971886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9049" y="4764024"/>
            <a:ext cx="201168" cy="941832"/>
          </a:xfrm>
          <a:prstGeom prst="rect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39673" y="4937760"/>
            <a:ext cx="10331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QUE ENTREGA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1039673" y="5157216"/>
            <a:ext cx="102860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Mide el impacto del rediseño del proceso de captura de reclamos y sirve de insumo para planificar la renovación tecnológica.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CALIDAD Y ACTIVOS TI</a:t>
            </a:r>
            <a:endParaRPr lang="en-US" sz="800" dirty="0"/>
          </a:p>
        </p:txBody>
      </p:sp>
      <p:sp>
        <p:nvSpPr>
          <p:cNvPr id="33" name="Text 30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EL DASHBOARD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EN POWER BI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 «Calidad y Activos TI» del informe</a:t>
            </a:r>
            <a:endParaRPr lang="en-US" sz="1350" dirty="0"/>
          </a:p>
        </p:txBody>
      </p:sp>
      <p:pic>
        <p:nvPicPr>
          <p:cNvPr id="7" name="Image 0" descr="D:\GitHub\AnalisisDeDatos\docs\capturas\pbi_7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4565" y="1645920"/>
            <a:ext cx="7722565" cy="4343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234565" y="1645920"/>
            <a:ext cx="7722565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FE3C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09905" y="605332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del formulario estandarizado · reclamos por tipo · días de resolución · obsolescencia y plan de renovación del parque TI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CALIDAD Y ACTIVOS TI</a:t>
            </a:r>
            <a:endParaRPr lang="en-US" sz="800" dirty="0"/>
          </a:p>
        </p:txBody>
      </p:sp>
      <p:sp>
        <p:nvSpPr>
          <p:cNvPr id="14" name="Text 10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EL DASHBOARD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DASHBOARD EN TABLEAU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mismos indicadores, gráficos, tablas y filtros, construidos en Tableau</a:t>
            </a:r>
            <a:endParaRPr lang="en-US" sz="1350" dirty="0"/>
          </a:p>
        </p:txBody>
      </p:sp>
      <p:pic>
        <p:nvPicPr>
          <p:cNvPr id="7" name="Image 0" descr="D:\GitHub\AnalisisDeDatos\docs\capturas\tab_7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1851" y="1645920"/>
            <a:ext cx="7867993" cy="4343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61851" y="1645920"/>
            <a:ext cx="7867993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FE3C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09905" y="605332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Réplica 1:1 de la página de Power BI · filtros con parámetros · campos calculados · doble eje · nombres y valores de medidas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CALIDAD Y ACTIVOS TI</a:t>
            </a:r>
            <a:endParaRPr lang="en-US" sz="800" dirty="0"/>
          </a:p>
        </p:txBody>
      </p:sp>
      <p:sp>
        <p:nvSpPr>
          <p:cNvPr id="14" name="Text 10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RESULTADOS 2023 VS 2024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RECLAMOS Y RESPUESTAS MÁS RÁPIDAS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 de los principales indicadores entre ambos años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2742971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2785" y="1856232"/>
            <a:ext cx="23772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RECLAMOS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92785" y="2121408"/>
            <a:ext cx="23772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792785" y="2907792"/>
            <a:ext cx="23772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 ·  2023: 135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92785" y="3246120"/>
            <a:ext cx="23772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A7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-18,5%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52876" y="1691640"/>
            <a:ext cx="2742971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35756" y="1856232"/>
            <a:ext cx="23772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CADA MIL PEDIDOS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3535756" y="2121408"/>
            <a:ext cx="23772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25,2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3535756" y="2907792"/>
            <a:ext cx="23772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 ·  2023: 30,9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535756" y="3246120"/>
            <a:ext cx="23772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A7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-18,5%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095848" y="1691640"/>
            <a:ext cx="2742971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78728" y="1856232"/>
            <a:ext cx="23772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DÍAS DE RESOLUCIÓN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278728" y="2121408"/>
            <a:ext cx="23772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7,8</a:t>
            </a:r>
            <a:endParaRPr lang="en-US" sz="3600" dirty="0"/>
          </a:p>
        </p:txBody>
      </p:sp>
      <p:sp>
        <p:nvSpPr>
          <p:cNvPr id="20" name="Text 18"/>
          <p:cNvSpPr txBox="1"/>
          <p:nvPr/>
        </p:nvSpPr>
        <p:spPr>
          <a:xfrm>
            <a:off x="6278728" y="2907792"/>
            <a:ext cx="23772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 ·  2023: 11,7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278728" y="3246120"/>
            <a:ext cx="23772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A7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-33,5%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838819" y="1691640"/>
            <a:ext cx="2742971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021699" y="1856232"/>
            <a:ext cx="23772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COMPLETO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9021699" y="2121408"/>
            <a:ext cx="23772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87,3%</a:t>
            </a:r>
            <a:endParaRPr lang="en-US" sz="3600" dirty="0"/>
          </a:p>
        </p:txBody>
      </p:sp>
      <p:sp>
        <p:nvSpPr>
          <p:cNvPr id="25" name="Text 23"/>
          <p:cNvSpPr txBox="1"/>
          <p:nvPr/>
        </p:nvSpPr>
        <p:spPr>
          <a:xfrm>
            <a:off x="9021699" y="2907792"/>
            <a:ext cx="23772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 ·  2023: 69,6%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9021699" y="3246120"/>
            <a:ext cx="23772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A7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+17,6 pp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09905" y="4343400"/>
            <a:ext cx="10971886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9049" y="4352544"/>
            <a:ext cx="201168" cy="1170432"/>
          </a:xfrm>
          <a:prstGeom prst="rect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39673" y="4526280"/>
            <a:ext cx="10331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1039673" y="4745736"/>
            <a:ext cx="102860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formulario estandarizado, implementado en abril de 2024, cambió el proceso: con él los reclamos se resuelven en 5,0 días y 98,6% llega completo, frente a 11,9 días y 69,1% con la planilla libre.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CALIDAD Y ACTIVOS TI</a:t>
            </a:r>
            <a:endParaRPr lang="en-US" sz="800" dirty="0"/>
          </a:p>
        </p:txBody>
      </p:sp>
      <p:sp>
        <p:nvSpPr>
          <p:cNvPr id="35" name="Text 32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TIPOS DE RECLAMO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ETIQUETADO MEJORA; CUERPO EXTRAÑO EMPEORA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Cantidad de reclamos por tipo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69037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2785" y="1856232"/>
            <a:ext cx="6537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RECLAMOS POR TIPO</a:t>
            </a:r>
            <a:endParaRPr lang="en-US" sz="9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01345" y="2103120"/>
          <a:ext cx="67208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742225" y="1691640"/>
            <a:ext cx="3839566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25105" y="1856232"/>
            <a:ext cx="3473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CUERPO EXTRAÑO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7925105" y="2103120"/>
            <a:ext cx="34738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Sube de 11 a 19 casos: el tipo más grave para la seguridad alimentaria.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42225" y="3200400"/>
            <a:ext cx="3839566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25105" y="3364992"/>
            <a:ext cx="3473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DE ETIQUETADO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7925105" y="3611880"/>
            <a:ext cx="34738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 de 27 a 18 con la verificación de etiquetas al inicio de turno.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742225" y="4709160"/>
            <a:ext cx="3839566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925105" y="4873752"/>
            <a:ext cx="3473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GRAVES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7925105" y="5120640"/>
            <a:ext cx="34738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reclamos de gravedad alta o crítica en 2024 (26 en 2023): la gravedad no bajó al mismo ritmo.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CALIDAD Y ACTIVOS TI</a:t>
            </a:r>
            <a:endParaRPr lang="en-US" sz="800" dirty="0"/>
          </a:p>
        </p:txBody>
      </p:sp>
      <p:sp>
        <p:nvSpPr>
          <p:cNvPr id="23" name="Text 19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ACTIVOS TECNOLÓGICOS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TERCIO DEL PARQUE TI ESTÁ OBSOLETO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Equipos por nivel de obsolescencia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69037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2785" y="1856232"/>
            <a:ext cx="6537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EQUIPOS POR NIVEL DE OBSOLESCENCIA</a:t>
            </a:r>
            <a:endParaRPr lang="en-US" sz="9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01345" y="2103120"/>
          <a:ext cx="67208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742225" y="1691640"/>
            <a:ext cx="3839566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25105" y="1856232"/>
            <a:ext cx="3473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OBSOLETOS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7925105" y="2103120"/>
            <a:ext cx="34738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de 90 equipos superaron su vida útil, sobre todo notebooks (11) y computadores de escritorio (7).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42225" y="3200400"/>
            <a:ext cx="3839566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25105" y="3364992"/>
            <a:ext cx="3473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DE SEGURIDAD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7925105" y="3611880"/>
            <a:ext cx="34738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equipos aún usan Windows 7, sin actualizaciones de seguridad.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742225" y="4709160"/>
            <a:ext cx="3839566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925105" y="4873752"/>
            <a:ext cx="3473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DE RENOVACIÓN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7925105" y="5120640"/>
            <a:ext cx="34738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Reponer los equipos obsoletos y por renovar costaría cerca de $28,7 M.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CALIDAD Y ACTIVOS TI</a:t>
            </a:r>
            <a:endParaRPr lang="en-US" sz="800" dirty="0"/>
          </a:p>
        </p:txBody>
      </p:sp>
      <p:sp>
        <p:nvSpPr>
          <p:cNvPr id="23" name="Text 19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HALLAZGOS CLAVE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DICEN LOS DATOS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hallazgos para calidad y TI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5485943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11073" y="1874520"/>
            <a:ext cx="51201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REDISEÑO DEL PROCESO FUNCIONA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11073" y="2103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 días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850185" y="2121408"/>
            <a:ext cx="3017063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resolución con el formulario estandarizado, frente a 11,9 con planilla libre: menos de la mitad del tiempo.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95848" y="1691640"/>
            <a:ext cx="5485943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97016" y="1874520"/>
            <a:ext cx="51201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LISTOS PARA AUDITORÍA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297016" y="2103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98,6%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336128" y="2121408"/>
            <a:ext cx="3017063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los reclamos ingresados por formulario están completos. La trazabilidad por lote queda asegurada.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9905" y="3840480"/>
            <a:ext cx="5485943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1073" y="4023360"/>
            <a:ext cx="51201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FÍSICO EN ALZA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11073" y="42519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+73%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2850185" y="4270248"/>
            <a:ext cx="3017063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reclamos por cuerpo extraño. Requiere reforzar la inspección antes del envasado.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95848" y="3840480"/>
            <a:ext cx="5485943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97016" y="4023360"/>
            <a:ext cx="51201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PARQUE TI ENVEJECIDO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297016" y="42519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 años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8336128" y="4270248"/>
            <a:ext cx="3017063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antigüedad promedio, con 29 equipos obsoletos que afectan la productividad.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CALIDAD Y ACTIVOS TI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MEDIDAS A TOMAR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MEDIDAS RECOMENDADAS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Consolidar la calidad y ordenar la inversión tecnológica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5485943" cy="384048"/>
          </a:xfrm>
          <a:prstGeom prst="rect">
            <a:avLst/>
          </a:prstGeom>
          <a:solidFill>
            <a:srgbClr val="F7EFD8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2785" y="1691640"/>
            <a:ext cx="51201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ACCIÓN INMEDIATA · 0 A 3 MESES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9905" y="2075688"/>
            <a:ext cx="5485943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2785" y="22128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41425" y="2194560"/>
            <a:ext cx="457154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Formulario en todos los canales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todos los reclamos, incluidos los que llegan por ejecutivos y teléfono, se ingresen por el formulario.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9905" y="3200400"/>
            <a:ext cx="5485943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2785" y="3337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41425" y="3319272"/>
            <a:ext cx="457154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contra cuerpos extraños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 de metales en envasado, revisión de mallas y capacitación en inspección visual.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9905" y="4325112"/>
            <a:ext cx="5485943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2785" y="44622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41425" y="4443984"/>
            <a:ext cx="457154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Retirar Windows 7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Reemplazar o actualizar de inmediato los equipos sin soporte de seguridad.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95848" y="1691640"/>
            <a:ext cx="5485943" cy="384048"/>
          </a:xfrm>
          <a:prstGeom prst="rect">
            <a:avLst/>
          </a:prstGeom>
          <a:solidFill>
            <a:srgbClr val="F7EFD8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78728" y="1691640"/>
            <a:ext cx="51201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PLANIFICAR · 3 A 12 MESES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95848" y="2075688"/>
            <a:ext cx="5485943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78728" y="22128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827368" y="2194560"/>
            <a:ext cx="457154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Renovación TI en dos fases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Reponer primero notebooks y computadores de áreas críticas y luego el resto, con presupuesto anual.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95848" y="3200400"/>
            <a:ext cx="5485943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78728" y="3337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827368" y="3319272"/>
            <a:ext cx="457154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 de equipos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Evaluar arriendo con renovación cada 4 años para evitar la obsolescencia acumulada.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95848" y="4325112"/>
            <a:ext cx="5485943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78728" y="44622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827368" y="4443984"/>
            <a:ext cx="457154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de calidad en proveedores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Compartir los reclamos atribuibles a materia prima con los proveedores.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CALIDAD Y ACTIVOS TI</a:t>
            </a:r>
            <a:endParaRPr lang="en-US" sz="800" dirty="0"/>
          </a:p>
        </p:txBody>
      </p:sp>
      <p:sp>
        <p:nvSpPr>
          <p:cNvPr id="33" name="Text 30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y metas 2025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3258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 propuestas para el próximo período</a:t>
            </a:r>
            <a:endParaRPr lang="en-US" sz="1350" dirty="0"/>
          </a:p>
        </p:txBody>
      </p:sp>
      <p:pic>
        <p:nvPicPr>
          <p:cNvPr id="7" name="Image 0" descr="D:\GitHub\AnalisisDeDatos\scripts\presentaciones\logo_studios_cona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8750" y="411480"/>
            <a:ext cx="1463040" cy="85692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09905" y="1783080"/>
            <a:ext cx="365729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92785" y="194767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DÍAS DE RESOLUCIÓN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792785" y="2194560"/>
            <a:ext cx="329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Mantener bajo 5 días promedio.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67200" y="1783080"/>
            <a:ext cx="365729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50080" y="194767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COMPLETO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4450080" y="2194560"/>
            <a:ext cx="329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Llegar a 98% con el formulario en todos los canales.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924495" y="1783080"/>
            <a:ext cx="365729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107375" y="194767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CUERPO EXTRAÑO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8107375" y="2194560"/>
            <a:ext cx="329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Reducir a la mitad los reclamos de este tipo.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9905" y="3108960"/>
            <a:ext cx="365729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92785" y="327355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RECLAMOS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792785" y="3520440"/>
            <a:ext cx="329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de 20 por cada mil pedidos entregados.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267200" y="3108960"/>
            <a:ext cx="365729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450080" y="327355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PARQUE TI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450080" y="3520440"/>
            <a:ext cx="329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Cero equipos con sistema operativo sin soporte.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924495" y="3108960"/>
            <a:ext cx="365729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107375" y="327355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OBSOLESCENCIA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8107375" y="3520440"/>
            <a:ext cx="329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Bajar de 32% a menos de 15% de equipos obsoletos.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09905" y="4617720"/>
            <a:ext cx="804580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9049" y="4626864"/>
            <a:ext cx="201168" cy="1399032"/>
          </a:xfrm>
          <a:prstGeom prst="rect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39673" y="4800600"/>
            <a:ext cx="7405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CONCLUSIÓN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1039673" y="5020056"/>
            <a:ext cx="73600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rediseño del registro de reclamos es un caso de éxito medible: menos tiempo y mejores datos. El siguiente paso es usar esos datos para atacar las causas de fondo y renovar la tecnología que sostiene la operación.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8838590" y="461772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021470" y="478231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PREPARADO POR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9021470" y="5029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Kevin del Río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Ingeniero en Informática · BI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SpA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studiosconari@gmail.com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CALIDAD Y ACTIVOS TI</a:t>
            </a:r>
            <a:endParaRPr lang="en-US" sz="800" dirty="0"/>
          </a:p>
        </p:txBody>
      </p:sp>
      <p:sp>
        <p:nvSpPr>
          <p:cNvPr id="37" name="Text 33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Studios Conari SpA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 de calidad y activos tecnológicos</dc:title>
  <dc:subject>PptxGenJS Presentation</dc:subject>
  <dc:creator>Kevin del Río · Studios Conari SpA</dc:creator>
  <cp:lastModifiedBy>Kevin del Río · Studios Conari SpA</cp:lastModifiedBy>
  <cp:revision>1</cp:revision>
  <dcterms:created xsi:type="dcterms:W3CDTF">2026-09-25T23:24:05Z</dcterms:created>
  <dcterms:modified xsi:type="dcterms:W3CDTF">2026-09-25T23:24:05Z</dcterms:modified>
</cp:coreProperties>
</file>