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9CED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865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Ensaladas</c:v>
                  </c:pt>
                  <c:pt idx="1">
                    <c:v>Frutas Cortadas</c:v>
                  </c:pt>
                  <c:pt idx="2">
                    <c:v>Jugos Naturales</c:v>
                  </c:pt>
                  <c:pt idx="3">
                    <c:v>Sándwiches y Wraps</c:v>
                  </c:pt>
                  <c:pt idx="4">
                    <c:v>Postres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72.54520595428374</c:v>
                </c:pt>
                <c:pt idx="1">
                  <c:v>58.58609453750737</c:v>
                </c:pt>
                <c:pt idx="2">
                  <c:v>46.60372832482692</c:v>
                </c:pt>
                <c:pt idx="3">
                  <c:v>95.6673467849213</c:v>
                </c:pt>
                <c:pt idx="4">
                  <c:v>96.58920274383996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529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8657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Ensaladas</c:v>
                  </c:pt>
                  <c:pt idx="1">
                    <c:v>Frutas Cortadas</c:v>
                  </c:pt>
                  <c:pt idx="2">
                    <c:v>Jugos Naturales</c:v>
                  </c:pt>
                  <c:pt idx="3">
                    <c:v>Sándwiches y Wraps</c:v>
                  </c:pt>
                  <c:pt idx="4">
                    <c:v>Postres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73.83294564429104</c:v>
                </c:pt>
                <c:pt idx="1">
                  <c:v>59.82802283354328</c:v>
                </c:pt>
                <c:pt idx="2">
                  <c:v>47.822503750678024</c:v>
                </c:pt>
                <c:pt idx="3">
                  <c:v>96.81245669098764</c:v>
                </c:pt>
                <c:pt idx="4">
                  <c:v>97.68695324336211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00" u="none">
                  <a:solidFill>
                    <a:srgbClr val="58657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5294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C9C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Selección</c:v>
                  </c:pt>
                  <c:pt idx="1">
                    <c:v>Envasado</c:v>
                  </c:pt>
                  <c:pt idx="2">
                    <c:v>Extracción</c:v>
                  </c:pt>
                  <c:pt idx="3">
                    <c:v>Recepción</c:v>
                  </c:pt>
                  <c:pt idx="4">
                    <c:v>Corte</c:v>
                  </c:pt>
                  <c:pt idx="5">
                    <c:v>Pelado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17673.8</c:v>
                </c:pt>
                <c:pt idx="1">
                  <c:v>11695.8</c:v>
                </c:pt>
                <c:pt idx="2">
                  <c:v>11947.5</c:v>
                </c:pt>
                <c:pt idx="3">
                  <c:v>11135.4</c:v>
                </c:pt>
                <c:pt idx="4">
                  <c:v>5860.1</c:v>
                </c:pt>
                <c:pt idx="5">
                  <c:v>2039.2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1529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Selección</c:v>
                  </c:pt>
                  <c:pt idx="1">
                    <c:v>Envasado</c:v>
                  </c:pt>
                  <c:pt idx="2">
                    <c:v>Extracción</c:v>
                  </c:pt>
                  <c:pt idx="3">
                    <c:v>Recepción</c:v>
                  </c:pt>
                  <c:pt idx="4">
                    <c:v>Corte</c:v>
                  </c:pt>
                  <c:pt idx="5">
                    <c:v>Pelado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18061.3</c:v>
                </c:pt>
                <c:pt idx="1">
                  <c:v>12155.4</c:v>
                </c:pt>
                <c:pt idx="2">
                  <c:v>12033.6</c:v>
                </c:pt>
                <c:pt idx="3">
                  <c:v>11431.7</c:v>
                </c:pt>
                <c:pt idx="4">
                  <c:v>6275.4</c:v>
                </c:pt>
                <c:pt idx="5">
                  <c:v>2190.5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6E9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65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5294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17536" y="195682"/>
            <a:ext cx="4274820" cy="6466637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pic>
        <p:nvPicPr>
          <p:cNvPr id="5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5" y="502920"/>
            <a:ext cx="2011680" cy="117827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9905" y="20848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DATOS · BUSINESS INTELLIGENCE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09905" y="237744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e inventario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361188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de las líneas, mermas por proceso, productividad y control de stock crítico de insumos.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09905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4497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4497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Foods S.A. (ficticia)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649017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813609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2813609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· Tableau · Excel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88129" y="5394960"/>
            <a:ext cx="203911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52721" y="5513832"/>
            <a:ext cx="1764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852721" y="5742432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– 2024</a:t>
            </a:r>
            <a:endParaRPr lang="en-US" sz="1200" dirty="0"/>
          </a:p>
        </p:txBody>
      </p:sp>
      <p:pic>
        <p:nvPicPr>
          <p:cNvPr id="18" name="Image 1" descr="D:\GitHub\AnalisisDeDatos\docs\capturas\pbi_5_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094554"/>
            <a:ext cx="3749040" cy="2108571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55280" y="1094554"/>
            <a:ext cx="3749040" cy="210857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  <p:pic>
        <p:nvPicPr>
          <p:cNvPr id="20" name="Image 2" descr="D:\GitHub\AnalisisDeDatos\docs\capturas\tab_5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816279"/>
            <a:ext cx="3566160" cy="196864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183880" y="3816279"/>
            <a:ext cx="3566160" cy="196864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3D6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MOTIVO DEL ANÁLISIS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ANALIZAR LA PRODUCCIÓN?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alimentos frescos, cada kilo perdido es costo directo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 PRIMA PERECIBLE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fruta y la verdura se pierden rápido. El rendimiento y la merma definen buena parte del costo del producto.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Y PRODUCTIVIDAD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demanda creciendo, hay que producir más con las mismas personas y horas de máquina.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5623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ABASTECIMIENTO SIN QUIEBRES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103120"/>
            <a:ext cx="32915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insumo en stock crítico puede detener una línea y dejar pedidos sin cumplir.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905" y="4160520"/>
            <a:ext cx="10971886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049" y="4169664"/>
            <a:ext cx="201168" cy="112471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9673" y="434340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CLAVE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039673" y="4562856"/>
            <a:ext cx="1028608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¿Estamos aprovechando mejor la materia prima y las horas hombre, y tenemos los insumos necesarios cuando se necesitan?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PRODUCCIÓN E INVENTARIO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QUÉ BUSCAMOS CONTROLAR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BAJO CONTROL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productiva y salud del inventario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PRODUCIDOS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de producto terminado por línea y SKU.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 de actividad de la planta.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67200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50080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%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450080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producidos / kg de materia prima.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Aprovechamiento de la materia prima.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24495" y="169164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07375" y="184708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 %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107375" y="209397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no recuperable sobre materia prima.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oculto del proceso.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90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278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DEL PLAN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9278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producidas / planificadas.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 de responder a la demanda.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267200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50080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POR HORA HOMBRE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450080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/ horas hombre por línea.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Productividad del personal.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924495" y="3108960"/>
            <a:ext cx="3657295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07375" y="3264408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CRÍTICO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107375" y="3511296"/>
            <a:ext cx="3291535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Insumos bajo el umbral de alerta al cierre de mes.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quiebre de abastecimiento.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9905" y="4754880"/>
            <a:ext cx="10971886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049" y="4764024"/>
            <a:ext cx="201168" cy="9418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39673" y="493776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QUE ENTREGA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1039673" y="5157216"/>
            <a:ext cx="102860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a la jefatura de producción comparar líneas, encontrar dónde se pierde materia prima y anticipar quiebres de stock.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PRODUCCIÓN E INVENTARIO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EN POWER BI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Página «Producción e Inventario» del informe</a:t>
            </a:r>
            <a:endParaRPr lang="en-US" sz="1350" dirty="0"/>
          </a:p>
        </p:txBody>
      </p:sp>
      <p:pic>
        <p:nvPicPr>
          <p:cNvPr id="7" name="Image 0" descr="D:\GitHub\AnalisisDeDatos\docs\capturas\pbi_5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4565" y="1645920"/>
            <a:ext cx="7722565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34565" y="1645920"/>
            <a:ext cx="7722565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por línea · mermas por proceso · volumen y productividad · insumos con más alertas de stock crítico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PRODUCCIÓN E INVENTARIO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EL DASHBOARD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DASHBOARD EN TABLEAU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mismos indicadores, gráficos, tablas y filtros, construidos en Tableau</a:t>
            </a:r>
            <a:endParaRPr lang="en-US" sz="1350" dirty="0"/>
          </a:p>
        </p:txBody>
      </p:sp>
      <p:pic>
        <p:nvPicPr>
          <p:cNvPr id="7" name="Image 0" descr="D:\GitHub\AnalisisDeDatos\docs\capturas\tab_5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851" y="1645920"/>
            <a:ext cx="7867993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61851" y="1645920"/>
            <a:ext cx="7867993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9905" y="6053328"/>
            <a:ext cx="10971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1:1 de la página de Power BI · filtros con parámetros · campos calculados · doble eje · nombres y valores de medidas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PRODUCCIÓN E INVENTARIO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RESULTADOS 2023 VS 2024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VOLUMEN Y MEJOR RENDIMIENTO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de los principales indicadores entre ambos años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PRODUCIDOS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2785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290,6 t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92785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267,2 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92785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+8,8%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52876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35756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535756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61,1%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3535756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59,8%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35756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+1,4 pp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95848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78728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13,7%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6278728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14,2%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78728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-0,5 pp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838819" y="1691640"/>
            <a:ext cx="2742971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21699" y="1856232"/>
            <a:ext cx="23772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DE STOCK CRÍTICO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021699" y="2121408"/>
            <a:ext cx="23772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9021699" y="2907792"/>
            <a:ext cx="23772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 ·  2023: 38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21699" y="3246120"/>
            <a:ext cx="237721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+21,1%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09905" y="4343400"/>
            <a:ext cx="10971886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049" y="4352544"/>
            <a:ext cx="201168" cy="11704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9673" y="4526280"/>
            <a:ext cx="10331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39673" y="4745736"/>
            <a:ext cx="1028608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planta produjo +8,8% más y aprovechó mejor la materia prima (rendimiento +1,4 pp). La productividad subió levemente (2,05 → 2,08 kg/HH). En cambio, las alertas de stock crítico y las horas de detención aumentaron.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PRODUCCIÓN E INVENTARIO</a:t>
            </a:r>
            <a:endParaRPr lang="en-US" sz="800" dirty="0"/>
          </a:p>
        </p:txBody>
      </p:sp>
      <p:sp>
        <p:nvSpPr>
          <p:cNvPr id="35" name="Text 32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RENDIMIENTO POR LÍNEA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LÍNEAS MEJORAN; JUGOS SIGUE BAJO 50%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de materia prima por línea productiva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POR LÍNEA (%)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JUGOS NATURALES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 de 47,8%: por cada kilo de naranja se obtiene menos de medio kilo de jugo. Es la línea con más potencial de mejora.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FRUTAS CORTADAS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59,8% de rendimiento: la selección y el pelado generan la mayor parte de la pérdida.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SUBPRODUCTOS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119,6 t de cáscaras y descartes recuperables en 2024 que hoy no generan ingreso.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PRODUCCIÓN E INVENTARIO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MERMAS POR PROCESO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SELECCIÓN CONCENTRA LA MERMA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Kilos de merma por etapa del proceso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856232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 POR PROCESO (KG)</a:t>
            </a:r>
            <a:endParaRPr lang="en-US" sz="9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01345" y="2103120"/>
          <a:ext cx="6720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742225" y="169164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25105" y="185623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Y RECEPCIÓN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925105" y="210312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la mitad de la merma ocurre antes de producir: materia prima fuera de especificación o sobremadura.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42225" y="320040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925105" y="336499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CRÍTICO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925105" y="361188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insumos con más alertas son chocolate cobertura, botella pet 300 ml, pote pet 250 g con tapa: envases y abarrotes con proveedores en Santiago.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42225" y="4709160"/>
            <a:ext cx="3839566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925105" y="4873752"/>
            <a:ext cx="3473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DETENCIONES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925105" y="5120640"/>
            <a:ext cx="34738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673 horas de detención en 2024; las principales causas son cambios de formato, limpiezas no programadas y falta de materia prima.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PRODUCCIÓN E INVENTARIO</a:t>
            </a:r>
            <a:endParaRPr lang="en-US" sz="800" dirty="0"/>
          </a:p>
        </p:txBody>
      </p:sp>
      <p:sp>
        <p:nvSpPr>
          <p:cNvPr id="23" name="Text 19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HALLAZGOS CLAVE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DICEN LOS DATOS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hallazgos para la jefatura de producción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1073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 PRIMA MEJOR APROVECHADA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11073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+1,4 pp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50185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mejora en rendimiento: se produce más con proporcionalmente menos materia prima.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5848" y="169164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7016" y="187452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QUIEBRES DE STOCK EN AUMENTO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97016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+21,1%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336128" y="212140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alertas de stock crítico. El crecimiento de la demanda superó los niveles de stock mínimo definidos.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1073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PROVEEDORES MÁS PUNTUALES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11073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850185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órdenes de compra llegó con atraso en 2024 (antes 34%).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5848" y="3840480"/>
            <a:ext cx="5485943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7016" y="4023360"/>
            <a:ext cx="512018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ALZA DE PRECIOS DE INSUMOS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297016" y="42519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+5,3%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336128" y="4270248"/>
            <a:ext cx="3017063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sube el precio promedio de la naranja jugo; botellas y potes PET suben cerca de 5%.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PRODUCCIÓN E INVENTARIO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10971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MEDIDAS A TOMAR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1097188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RECOMENDADAS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216152"/>
            <a:ext cx="109718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Producir más con menos pérdida y sin quiebres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9905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2785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ACCIÓN INMEDIATA · 0 A 3 MESES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905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2785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41425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Recalcular los stocks mínimos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el umbral crítico de envases, chocolate y azúcar a la nueva demanda y al plazo de entrega real.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905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2785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41425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Especificación de recepción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Acordar con los proveedores de fruta y verdura criterios de calibre y madurez para bajar la merma en selección.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905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2785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41425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subproductos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con compostaje o productores de alimento animal para las cáscaras y descartes.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95848" y="1691640"/>
            <a:ext cx="5485943" cy="384048"/>
          </a:xfrm>
          <a:prstGeom prst="rect">
            <a:avLst/>
          </a:prstGeom>
          <a:solidFill>
            <a:srgbClr val="F7EFD8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8728" y="1691640"/>
            <a:ext cx="51201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 · 3 A 12 MESES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95848" y="2075688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8728" y="221284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194560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Mejorar el rendimiento de jugos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 el ajuste o recambio del extractor y la variedad de naranja utilizada.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95848" y="3200400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78728" y="3337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319272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Cambios de formato más rápidos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metodología SMED y un plan de limpieza programada para reducir las detenciones.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95848" y="4325112"/>
            <a:ext cx="5485943" cy="1124712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78728" y="4462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43984"/>
            <a:ext cx="4571543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Compras con contrato de precio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Negociar precios anuales para naranja y envases PET para amortiguar las alzas.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PRODUCCIÓN E INVENTARIO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646" y="142646"/>
            <a:ext cx="11906402" cy="6572707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0195" y="190195"/>
            <a:ext cx="11811305" cy="647761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233D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9905" y="4389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6766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B7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metas 2025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3258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propuestas para el próximo período</a:t>
            </a:r>
            <a:endParaRPr lang="en-US" sz="1350" dirty="0"/>
          </a:p>
        </p:txBody>
      </p:sp>
      <p:pic>
        <p:nvPicPr>
          <p:cNvPr id="7" name="Image 0" descr="D:\GitHub\AnalisisDeDatos\scripts\presentaciones\logo_studios_cona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8750" y="411480"/>
            <a:ext cx="1463040" cy="85692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990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278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RENDIMIENTO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9278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61,1% a 62,5%.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67200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50080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MERMA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450080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Bajar de 13,7% a 12,5% de la materia prima.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24495" y="178308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07375" y="194767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CRÍTICO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107375" y="219456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de 25 alertas en el año.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990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278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DETENCIONES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9278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20% las horas de detención.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267200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50080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PRODUCTIVIDAD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450080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Superar 2,2 kg por hora hombre.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924495" y="3108960"/>
            <a:ext cx="365729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07375" y="3273552"/>
            <a:ext cx="329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107375" y="3520440"/>
            <a:ext cx="329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semanal por línea con los supervisores.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09905" y="4617720"/>
            <a:ext cx="8045806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9049" y="4626864"/>
            <a:ext cx="201168" cy="1399032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9673" y="4800600"/>
            <a:ext cx="7405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039673" y="5020056"/>
            <a:ext cx="73600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planta responde al crecimiento y aprovecha mejor la materia prima, pero el inventario no acompañó la mayor demanda. Ajustar stocks mínimos y atacar la merma de selección son las mejoras más rentables.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838590" y="4617720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FE3C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021470" y="47823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" kern="0" dirty="0">
                <a:solidFill>
                  <a:srgbClr val="9E7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PREPARADO POR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9021470" y="50292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del Río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Ingeniero en Informática · BI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SpA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5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studiosconari@gmail.com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09905" y="6473952"/>
            <a:ext cx="10971886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050128" y="6428232"/>
            <a:ext cx="91440" cy="91440"/>
          </a:xfrm>
          <a:prstGeom prst="diamond">
            <a:avLst/>
          </a:prstGeom>
          <a:solidFill>
            <a:srgbClr val="FFFFFF"/>
          </a:solidFill>
          <a:ln w="9525">
            <a:solidFill>
              <a:srgbClr val="9E741C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09905" y="65105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STUDIOS CONARI · MAGIC FOODS · PRODUCCIÓN E INVENTARIO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10210190" y="6510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Studios Conari SpA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Producción e inventario</dc:title>
  <dc:subject>PptxGenJS Presentation</dc:subject>
  <dc:creator>Kevin del Río · Studios Conari SpA</dc:creator>
  <cp:lastModifiedBy>Kevin del Río · Studios Conari SpA</cp:lastModifiedBy>
  <cp:revision>1</cp:revision>
  <dcterms:created xsi:type="dcterms:W3CDTF">2026-09-25T23:24:05Z</dcterms:created>
  <dcterms:modified xsi:type="dcterms:W3CDTF">2026-09-25T23:24:05Z</dcterms:modified>
</cp:coreProperties>
</file>